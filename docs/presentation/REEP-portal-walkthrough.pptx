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videos, one deck. The videos were recorded by a script that drives the real portal in a browser, so nothing is mocked. Play the role videos in order, then the two workflow videos.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REEP is a college placement-readiness dashboard. Four portals on one login. Two rules shape every screen you are about to see: student data stays on the machine unless an operator allows otherwise, and what staff can see is decided by role and by the mentor group the office assigned — never by a field that happens to be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video starts here. The same form serves all four roles. The Main Admin door is a hint, not a bypass: it selects the admin portal so the ID field reads “admin email”; the account's role is what opens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is the student's landing. Nothing here is typed by the student: stages come from the milestone rows, SWOC from staff, marks and attendance from the office's spreadsheet imports.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 % on Jobs and the eligibility verdict are the same criteria the office maintains on Placement. Skilling is where a certificate becomes a badge — but only after a mentor verifies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half of the student–mentor loop the interlinked video shows end to end. The rule enforced by the write path: a certificate is not a badge; only staff approval mints the earned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 hours are stored as integers, so “does this add up to 24” is exact. The meeting request is a mentor note, so both sides read the same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screens are deliberately off the sidebar; each is reached from the screen that owns the work. The profile card is read through the college → department → course → batch join and stored nowhere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assistants are in the shell, not on a route, so they are on every screen. The interview engine runs inside the API process; on a machine without the cloud engine the room reports itself unavailable and nothing else is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 in practice: the mentee list is the faculty member's own group and nothing else. The note form is the mentor's instrument; a meeting request from the student arrives as one of these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half of the student–mentor loop. The mentor was emailed when the claim was filed; the student is emailed the decision with the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leave request dies at the schema if the dates run backwards. The paper PDF is the college's own form with the request written onto it, and the signature image is drawn above the name and time — never instead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lands on tasks, not charts. The sidebar uses the same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Approval is the ONLY way onto the roster: there is no admin-side create. That is what makes the roster the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REMOVE hides a person from every list and can be undone; DELETE FOR GOOD walks every dependent row and needs a six-digit code mailed to the office's own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reason is required on every assignment because moving a student changes who may read their marks. Capacity is a number the screen shows, not a rule it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two-signature chain was retired because it deadlocked every staff request on a one-admin deployment; the office may hand its one signature to a named faculty member in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Consent is a row and the socket enforces it: no live grant, no interview. Audio needs three switches on — the operator's, the college's and the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that matters on a leaf is its code: it preselects the interview track by exact match, and a student on a batch with no track meets the general interview, which cannot be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grant hangs on a rung of the spine (college, department, course, specialization, batch or one student), so a faculty member can hold a screen for one department and not another. The Main Admin's own grants are live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with interlinked.mp4. Each numbered box is one screen in the video; the arrows are the rows the other side reads: a claim, a note, a SWOC entry, a job, a leave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frames from the recording, not mock-ups: the same rows that were written in step 1–3 are what the student's screens show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with onboarding.mp4. Approval is the only way a student account is minted; the setup walk is what makes the mailbox proof real; assignment is what makes the mentor able to see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alumni.mp4. The create-profile form is driven by whether a profile row exists, never by an empty company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reproducible from the repository: reset the dev database, run the recorder, render, rebuild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463040"/>
            <a:ext cx="10698480" cy="2011680"/>
          </a:xfrm>
          <a:prstGeom prst="rect">
            <a:avLst/>
          </a:prstGeom>
          <a:noFill/>
          <a:ln/>
        </p:spPr>
        <p:txBody>
          <a:bodyPr wrap="square" lIns="0" tIns="0" rIns="0" bIns="0" rtlCol="0" anchor="b"/>
          <a:lstStyle/>
          <a:p>
            <a:pPr indent="0" marL="0">
              <a:buNone/>
            </a:pPr>
            <a:r>
              <a:rPr lang="en-US" sz="5400" b="1" dirty="0">
                <a:solidFill>
                  <a:srgbClr val="FFFFFF"/>
                </a:solidFill>
                <a:latin typeface="Calibri" pitchFamily="34" charset="0"/>
                <a:ea typeface="Calibri" pitchFamily="34" charset="-122"/>
                <a:cs typeface="Calibri" pitchFamily="34" charset="-120"/>
              </a:rPr>
              <a:t>REEP</a:t>
            </a:r>
            <a:endParaRPr lang="en-US" sz="5400" dirty="0"/>
          </a:p>
          <a:p>
            <a:pPr indent="0" marL="0">
              <a:buNone/>
            </a:pPr>
            <a:r>
              <a:rPr lang="en-US" sz="5400" b="1" dirty="0">
                <a:solidFill>
                  <a:srgbClr val="FFFFFF"/>
                </a:solidFill>
                <a:latin typeface="Calibri" pitchFamily="34" charset="0"/>
                <a:ea typeface="Calibri" pitchFamily="34" charset="-122"/>
                <a:cs typeface="Calibri" pitchFamily="34" charset="-120"/>
              </a:rPr>
              <a:t>Live portal walkthrough</a:t>
            </a:r>
            <a:endParaRPr lang="en-US" sz="5400" dirty="0"/>
          </a:p>
        </p:txBody>
      </p:sp>
      <p:sp>
        <p:nvSpPr>
          <p:cNvPr id="3" name="Text 1"/>
          <p:cNvSpPr txBox="1"/>
          <p:nvPr/>
        </p:nvSpPr>
        <p:spPr>
          <a:xfrm>
            <a:off x="731520" y="3611880"/>
            <a:ext cx="10241280" cy="1097280"/>
          </a:xfrm>
          <a:prstGeom prst="rect">
            <a:avLst/>
          </a:prstGeom>
          <a:noFill/>
          <a:ln/>
        </p:spPr>
        <p:txBody>
          <a:bodyPr wrap="square" lIns="0" tIns="0" rIns="0" bIns="0" rtlCol="0" anchor="t"/>
          <a:lstStyle/>
          <a:p>
            <a:pPr indent="0" marL="0">
              <a:buNone/>
            </a:pPr>
            <a:r>
              <a:rPr lang="en-US" sz="2200" dirty="0">
                <a:solidFill>
                  <a:srgbClr val="F3E8FF"/>
                </a:solidFill>
                <a:latin typeface="Calibri" pitchFamily="34" charset="0"/>
                <a:ea typeface="Calibri" pitchFamily="34" charset="-122"/>
                <a:cs typeface="Calibri" pitchFamily="34" charset="-120"/>
              </a:rPr>
              <a:t>How the Student, Faculty, Main Admin and Alumni portals work — recorded on the running product, with the workflows that link them.</a:t>
            </a:r>
            <a:endParaRPr lang="en-US" sz="2200" dirty="0"/>
          </a:p>
        </p:txBody>
      </p:sp>
      <p:sp>
        <p:nvSpPr>
          <p:cNvPr id="4" name="Text 2"/>
          <p:cNvSpPr txBox="1"/>
          <p:nvPr/>
        </p:nvSpPr>
        <p:spPr>
          <a:xfrm>
            <a:off x="731520" y="5943600"/>
            <a:ext cx="10698480" cy="457200"/>
          </a:xfrm>
          <a:prstGeom prst="rect">
            <a:avLst/>
          </a:prstGeom>
          <a:noFill/>
          <a:ln/>
        </p:spPr>
        <p:txBody>
          <a:bodyPr wrap="square" lIns="0" tIns="0" rIns="0" bIns="0" rtlCol="0" anchor="ctr"/>
          <a:lstStyle/>
          <a:p>
            <a:pPr indent="0" marL="0">
              <a:buNone/>
            </a:pPr>
            <a:r>
              <a:rPr lang="en-US" sz="1200" spc="200" kern="0" dirty="0">
                <a:solidFill>
                  <a:srgbClr val="E9D5FF"/>
                </a:solidFill>
                <a:latin typeface="Calibri" pitchFamily="34" charset="0"/>
                <a:ea typeface="Calibri" pitchFamily="34" charset="-122"/>
                <a:cs typeface="Calibri" pitchFamily="34" charset="-120"/>
              </a:rPr>
              <a:t>STUDENT  ·  FACULTY / MENTOR  ·  MAIN ADMIN  ·  ALUMNI  ·  SIX VIDEOS + THIS DECK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What is in this pack</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914400"/>
        </p:xfrm>
        <a:graphic>
          <a:graphicData uri="http://schemas.openxmlformats.org/drawingml/2006/table">
            <a:tbl>
              <a:tblPr/>
              <a:tblGrid>
                <a:gridCol w="1920240"/>
                <a:gridCol w="8138160"/>
                <a:gridCol w="109728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Video</a:t>
                      </a:r>
                      <a:endParaRPr lang="en-US" sz="11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1E133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Shows</a:t>
                      </a:r>
                      <a:endParaRPr lang="en-US" sz="11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1E133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Length</a:t>
                      </a:r>
                      <a:endParaRPr lang="en-US" sz="11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1E1338"/>
                    </a:solidFill>
                  </a:tcPr>
                </a:tc>
              </a:tr>
              <a:tr h="502920">
                <a:tc>
                  <a:txBody>
                    <a:bodyPr/>
                    <a:lstStyle/>
                    <a:p>
                      <a:pPr indent="0" marL="0">
                        <a:buNone/>
                      </a:pPr>
                      <a:r>
                        <a:rPr lang="en-US" sz="1200" b="1" dirty="0">
                          <a:solidFill>
                            <a:srgbClr val="2B2340"/>
                          </a:solidFill>
                          <a:latin typeface="Calibri" pitchFamily="34" charset="0"/>
                          <a:ea typeface="Calibri" pitchFamily="34" charset="-122"/>
                          <a:cs typeface="Calibri" pitchFamily="34" charset="-120"/>
                        </a:rPr>
                        <a:t>student.mp4</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The Student portal, every screen, with a certificate claim, a reconciled time sheet, a meeting request and the assistant</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2:34</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r>
              <a:tr h="502920">
                <a:tc>
                  <a:txBody>
                    <a:bodyPr/>
                    <a:lstStyle/>
                    <a:p>
                      <a:pPr indent="0" marL="0">
                        <a:buNone/>
                      </a:pPr>
                      <a:r>
                        <a:rPr lang="en-US" sz="1200" b="1" dirty="0">
                          <a:solidFill>
                            <a:srgbClr val="2B2340"/>
                          </a:solidFill>
                          <a:latin typeface="Calibri" pitchFamily="34" charset="0"/>
                          <a:ea typeface="Calibri" pitchFamily="34" charset="-122"/>
                          <a:cs typeface="Calibri" pitchFamily="34" charset="-120"/>
                        </a:rPr>
                        <a:t>faculty.mp4</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The Faculty portal: notebook, mentee log, skill verification, the leave form, upskilling, signature</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2:05</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B2340"/>
                          </a:solidFill>
                          <a:latin typeface="Calibri" pitchFamily="34" charset="0"/>
                          <a:ea typeface="Calibri" pitchFamily="34" charset="-122"/>
                          <a:cs typeface="Calibri" pitchFamily="34" charset="-120"/>
                        </a:rPr>
                        <a:t>admin.mp4</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The Main Admin console: applications, roster, faculty, assignment, leave, jobs, interviews, SWOC, college setup, access, audit</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3:24</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r>
              <a:tr h="502920">
                <a:tc>
                  <a:txBody>
                    <a:bodyPr/>
                    <a:lstStyle/>
                    <a:p>
                      <a:pPr indent="0" marL="0">
                        <a:buNone/>
                      </a:pPr>
                      <a:r>
                        <a:rPr lang="en-US" sz="1200" b="1" dirty="0">
                          <a:solidFill>
                            <a:srgbClr val="2B2340"/>
                          </a:solidFill>
                          <a:latin typeface="Calibri" pitchFamily="34" charset="0"/>
                          <a:ea typeface="Calibri" pitchFamily="34" charset="-122"/>
                          <a:cs typeface="Calibri" pitchFamily="34" charset="-120"/>
                        </a:rPr>
                        <a:t>interlinked.mp4</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One workflow across three portals — what a student does, what the mentor and the office do about it, and where it lands</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4:01</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B2340"/>
                          </a:solidFill>
                          <a:latin typeface="Calibri" pitchFamily="34" charset="0"/>
                          <a:ea typeface="Calibri" pitchFamily="34" charset="-122"/>
                          <a:cs typeface="Calibri" pitchFamily="34" charset="-120"/>
                        </a:rPr>
                        <a:t>onboarding.mp4</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A new student's journey: apply → approve → emailed link (address, code, password) → first sign-in → faculty assigned</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3:18</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7F4FC"/>
                    </a:solidFill>
                  </a:tcPr>
                </a:tc>
              </a:tr>
              <a:tr h="502920">
                <a:tc>
                  <a:txBody>
                    <a:bodyPr/>
                    <a:lstStyle/>
                    <a:p>
                      <a:pPr indent="0" marL="0">
                        <a:buNone/>
                      </a:pPr>
                      <a:r>
                        <a:rPr lang="en-US" sz="1200" b="1" dirty="0">
                          <a:solidFill>
                            <a:srgbClr val="2B2340"/>
                          </a:solidFill>
                          <a:latin typeface="Calibri" pitchFamily="34" charset="0"/>
                          <a:ea typeface="Calibri" pitchFamily="34" charset="-122"/>
                          <a:cs typeface="Calibri" pitchFamily="34" charset="-120"/>
                        </a:rPr>
                        <a:t>alumni.mp4</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The Alumni portal: first-login profile and the jobs sheet</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c>
                  <a:txBody>
                    <a:bodyPr/>
                    <a:lstStyle/>
                    <a:p>
                      <a:pPr indent="0" marL="0">
                        <a:buNone/>
                      </a:pPr>
                      <a:r>
                        <a:rPr lang="en-US" sz="1200" dirty="0">
                          <a:solidFill>
                            <a:srgbClr val="2B2340"/>
                          </a:solidFill>
                          <a:latin typeface="Calibri" pitchFamily="34" charset="0"/>
                          <a:ea typeface="Calibri" pitchFamily="34" charset="-122"/>
                          <a:cs typeface="Calibri" pitchFamily="34" charset="-120"/>
                        </a:rPr>
                        <a:t>0:37</a:t>
                      </a:r>
                      <a:endParaRPr lang="en-US" sz="1200" dirty="0">
                        <a:latin typeface="Calibri" charset="0"/>
                        <a:ea typeface="Calibri" charset="0"/>
                        <a:cs typeface="Calibri" charset="0"/>
                      </a:endParaRPr>
                    </a:p>
                  </a:txBody>
                  <a:tcPr marL="101600" marR="101600" marT="50800" marB="50800" anchor="ctr">
                    <a:lnL w="6350" cap="flat" cmpd="sng" algn="ctr">
                      <a:solidFill>
                        <a:srgbClr val="D9D0EA"/>
                      </a:solidFill>
                      <a:prstDash val="solid"/>
                      <a:round/>
                      <a:headEnd type="none" w="med" len="med"/>
                      <a:tailEnd type="none" w="med" len="med"/>
                    </a:lnL>
                    <a:lnR w="6350" cap="flat" cmpd="sng" algn="ctr">
                      <a:solidFill>
                        <a:srgbClr val="D9D0EA"/>
                      </a:solidFill>
                      <a:prstDash val="solid"/>
                      <a:round/>
                      <a:headEnd type="none" w="med" len="med"/>
                      <a:tailEnd type="none" w="med" len="med"/>
                    </a:lnR>
                    <a:lnT w="6350" cap="flat" cmpd="sng" algn="ctr">
                      <a:solidFill>
                        <a:srgbClr val="D9D0EA"/>
                      </a:solidFill>
                      <a:prstDash val="solid"/>
                      <a:round/>
                      <a:headEnd type="none" w="med" len="med"/>
                      <a:tailEnd type="none" w="med" len="med"/>
                    </a:lnT>
                    <a:lnB w="6350" cap="flat" cmpd="sng" algn="ctr">
                      <a:solidFill>
                        <a:srgbClr val="D9D0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02920" y="5074920"/>
            <a:ext cx="11155680" cy="1005840"/>
          </a:xfrm>
          <a:prstGeom prst="rect">
            <a:avLst/>
          </a:prstGeom>
          <a:noFill/>
          <a:ln/>
        </p:spPr>
        <p:txBody>
          <a:bodyPr wrap="square" lIns="0" tIns="0" rIns="0" bIns="0" rtlCol="0" anchor="t"/>
          <a:lstStyle/>
          <a:p>
            <a:pPr indent="0" marL="0">
              <a:buNone/>
            </a:pPr>
            <a:r>
              <a:rPr lang="en-US" sz="1300" b="1" dirty="0">
                <a:solidFill>
                  <a:srgbClr val="2B2340"/>
                </a:solidFill>
                <a:latin typeface="Calibri" pitchFamily="34" charset="0"/>
                <a:ea typeface="Calibri" pitchFamily="34" charset="-122"/>
                <a:cs typeface="Calibri" pitchFamily="34" charset="-120"/>
              </a:rPr>
              <a:t>Every video is a real recording of the product: </a:t>
            </a:r>
            <a:pPr indent="0" marL="0">
              <a:buNone/>
            </a:pPr>
            <a:r>
              <a:rPr lang="en-US" sz="1300" dirty="0">
                <a:solidFill>
                  <a:srgbClr val="2B2340"/>
                </a:solidFill>
                <a:latin typeface="Calibri" pitchFamily="34" charset="0"/>
                <a:ea typeface="Calibri" pitchFamily="34" charset="-122"/>
                <a:cs typeface="Calibri" pitchFamily="34" charset="-120"/>
              </a:rPr>
              <a:t>the typing, the clicks and the data are live, and a caption bar explains each screen as it opens. Play them in this order; tools/demo/render.sh also produces reep-full-walkthrough.mp4, all six back to back. The slides that follow use the same screenshots so the deck can be read without the videos.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REEP in one slide</a:t>
            </a:r>
            <a:endParaRPr lang="en-US" sz="3000" dirty="0"/>
          </a:p>
        </p:txBody>
      </p:sp>
      <p:sp>
        <p:nvSpPr>
          <p:cNvPr id="5" name="Shape 3"/>
          <p:cNvSpPr/>
          <p:nvPr/>
        </p:nvSpPr>
        <p:spPr>
          <a:xfrm>
            <a:off x="502920" y="1280160"/>
            <a:ext cx="2651760" cy="2743200"/>
          </a:xfrm>
          <a:prstGeom prst="roundRect">
            <a:avLst>
              <a:gd name="adj" fmla="val 4828"/>
            </a:avLst>
          </a:prstGeom>
          <a:solidFill>
            <a:srgbClr val="F7F4FC"/>
          </a:solidFill>
          <a:ln w="9525">
            <a:solidFill>
              <a:srgbClr val="D9D0EA"/>
            </a:solidFill>
            <a:prstDash val="solid"/>
          </a:ln>
        </p:spPr>
      </p:sp>
      <p:sp>
        <p:nvSpPr>
          <p:cNvPr id="6" name="Shape 4"/>
          <p:cNvSpPr/>
          <p:nvPr/>
        </p:nvSpPr>
        <p:spPr>
          <a:xfrm>
            <a:off x="685800" y="1463040"/>
            <a:ext cx="566928" cy="566928"/>
          </a:xfrm>
          <a:prstGeom prst="ellipse">
            <a:avLst/>
          </a:prstGeom>
          <a:solidFill>
            <a:srgbClr val="6D28D9"/>
          </a:solidFill>
          <a:ln w="12700">
            <a:solidFill>
              <a:srgbClr val="6D28D9"/>
            </a:solidFill>
            <a:prstDash val="solid"/>
          </a:ln>
        </p:spPr>
      </p:sp>
      <p:pic>
        <p:nvPicPr>
          <p:cNvPr id="7" name="Image 0" descr="preencoded.png">    </p:cNvPr>
          <p:cNvPicPr>
            <a:picLocks noChangeAspect="1"/>
          </p:cNvPicPr>
          <p:nvPr/>
        </p:nvPicPr>
        <p:blipFill>
          <a:blip r:embed="rId1"/>
          <a:stretch>
            <a:fillRect/>
          </a:stretch>
        </p:blipFill>
        <p:spPr>
          <a:xfrm>
            <a:off x="804672" y="1581912"/>
            <a:ext cx="329184" cy="329184"/>
          </a:xfrm>
          <a:prstGeom prst="rect">
            <a:avLst/>
          </a:prstGeom>
        </p:spPr>
      </p:pic>
      <p:sp>
        <p:nvSpPr>
          <p:cNvPr id="8" name="Text 5"/>
          <p:cNvSpPr txBox="1"/>
          <p:nvPr/>
        </p:nvSpPr>
        <p:spPr>
          <a:xfrm>
            <a:off x="685800" y="2121408"/>
            <a:ext cx="2286000" cy="365760"/>
          </a:xfrm>
          <a:prstGeom prst="rect">
            <a:avLst/>
          </a:prstGeom>
          <a:noFill/>
          <a:ln/>
        </p:spPr>
        <p:txBody>
          <a:bodyPr wrap="square" lIns="0" tIns="0" rIns="0" bIns="0" rtlCol="0" anchor="ctr"/>
          <a:lstStyle/>
          <a:p>
            <a:pPr indent="0" marL="0">
              <a:buNone/>
            </a:pPr>
            <a:r>
              <a:rPr lang="en-US" sz="1600" b="1" dirty="0">
                <a:solidFill>
                  <a:srgbClr val="1E1338"/>
                </a:solidFill>
                <a:latin typeface="Calibri" pitchFamily="34" charset="0"/>
                <a:ea typeface="Calibri" pitchFamily="34" charset="-122"/>
                <a:cs typeface="Calibri" pitchFamily="34" charset="-120"/>
              </a:rPr>
              <a:t>Student</a:t>
            </a:r>
            <a:endParaRPr lang="en-US" sz="1600" dirty="0"/>
          </a:p>
        </p:txBody>
      </p:sp>
      <p:sp>
        <p:nvSpPr>
          <p:cNvPr id="9" name="Text 6"/>
          <p:cNvSpPr txBox="1"/>
          <p:nvPr/>
        </p:nvSpPr>
        <p:spPr>
          <a:xfrm>
            <a:off x="685800" y="2487168"/>
            <a:ext cx="2331720" cy="1463040"/>
          </a:xfrm>
          <a:prstGeom prst="rect">
            <a:avLst/>
          </a:prstGeom>
          <a:noFill/>
          <a:ln/>
        </p:spPr>
        <p:txBody>
          <a:bodyPr wrap="square" lIns="0" tIns="0" rIns="0" bIns="0" rtlCol="0" anchor="t"/>
          <a:lstStyle/>
          <a:p>
            <a:pPr indent="0" marL="0">
              <a:buNone/>
            </a:pPr>
            <a:r>
              <a:rPr lang="en-US" sz="1100" dirty="0">
                <a:solidFill>
                  <a:srgbClr val="2B2340"/>
                </a:solidFill>
                <a:latin typeface="Calibri" pitchFamily="34" charset="0"/>
                <a:ea typeface="Calibri" pitchFamily="34" charset="-122"/>
                <a:cs typeface="Calibri" pitchFamily="34" charset="-120"/>
              </a:rPr>
              <a:t>Readiness stages, jobs with a match %, the badge board, a 24-hour time ledger, the mentor log, the resume, and a speech-to-speech mock interviewer.</a:t>
            </a:r>
            <a:endParaRPr lang="en-US" sz="1100" dirty="0"/>
          </a:p>
        </p:txBody>
      </p:sp>
      <p:sp>
        <p:nvSpPr>
          <p:cNvPr id="10" name="Shape 7"/>
          <p:cNvSpPr/>
          <p:nvPr/>
        </p:nvSpPr>
        <p:spPr>
          <a:xfrm>
            <a:off x="3337560" y="1280160"/>
            <a:ext cx="2651760" cy="2743200"/>
          </a:xfrm>
          <a:prstGeom prst="roundRect">
            <a:avLst>
              <a:gd name="adj" fmla="val 4828"/>
            </a:avLst>
          </a:prstGeom>
          <a:solidFill>
            <a:srgbClr val="F7F4FC"/>
          </a:solidFill>
          <a:ln w="9525">
            <a:solidFill>
              <a:srgbClr val="D9D0EA"/>
            </a:solidFill>
            <a:prstDash val="solid"/>
          </a:ln>
        </p:spPr>
      </p:sp>
      <p:sp>
        <p:nvSpPr>
          <p:cNvPr id="11" name="Shape 8"/>
          <p:cNvSpPr/>
          <p:nvPr/>
        </p:nvSpPr>
        <p:spPr>
          <a:xfrm>
            <a:off x="3520440" y="1463040"/>
            <a:ext cx="566928" cy="566928"/>
          </a:xfrm>
          <a:prstGeom prst="ellipse">
            <a:avLst/>
          </a:prstGeom>
          <a:solidFill>
            <a:srgbClr val="0F766E"/>
          </a:solidFill>
          <a:ln w="12700">
            <a:solidFill>
              <a:srgbClr val="0F766E"/>
            </a:solidFill>
            <a:prstDash val="solid"/>
          </a:ln>
        </p:spPr>
      </p:sp>
      <p:pic>
        <p:nvPicPr>
          <p:cNvPr id="12" name="Image 1" descr="preencoded.png">    </p:cNvPr>
          <p:cNvPicPr>
            <a:picLocks noChangeAspect="1"/>
          </p:cNvPicPr>
          <p:nvPr/>
        </p:nvPicPr>
        <p:blipFill>
          <a:blip r:embed="rId2"/>
          <a:stretch>
            <a:fillRect/>
          </a:stretch>
        </p:blipFill>
        <p:spPr>
          <a:xfrm>
            <a:off x="3639312" y="1581912"/>
            <a:ext cx="329184" cy="329184"/>
          </a:xfrm>
          <a:prstGeom prst="rect">
            <a:avLst/>
          </a:prstGeom>
        </p:spPr>
      </p:pic>
      <p:sp>
        <p:nvSpPr>
          <p:cNvPr id="13" name="Text 9"/>
          <p:cNvSpPr txBox="1"/>
          <p:nvPr/>
        </p:nvSpPr>
        <p:spPr>
          <a:xfrm>
            <a:off x="3520440" y="2121408"/>
            <a:ext cx="2286000" cy="365760"/>
          </a:xfrm>
          <a:prstGeom prst="rect">
            <a:avLst/>
          </a:prstGeom>
          <a:noFill/>
          <a:ln/>
        </p:spPr>
        <p:txBody>
          <a:bodyPr wrap="square" lIns="0" tIns="0" rIns="0" bIns="0" rtlCol="0" anchor="ctr"/>
          <a:lstStyle/>
          <a:p>
            <a:pPr indent="0" marL="0">
              <a:buNone/>
            </a:pPr>
            <a:r>
              <a:rPr lang="en-US" sz="1600" b="1" dirty="0">
                <a:solidFill>
                  <a:srgbClr val="1E1338"/>
                </a:solidFill>
                <a:latin typeface="Calibri" pitchFamily="34" charset="0"/>
                <a:ea typeface="Calibri" pitchFamily="34" charset="-122"/>
                <a:cs typeface="Calibri" pitchFamily="34" charset="-120"/>
              </a:rPr>
              <a:t>Faculty / Mentor</a:t>
            </a:r>
            <a:endParaRPr lang="en-US" sz="1600" dirty="0"/>
          </a:p>
        </p:txBody>
      </p:sp>
      <p:sp>
        <p:nvSpPr>
          <p:cNvPr id="14" name="Text 10"/>
          <p:cNvSpPr txBox="1"/>
          <p:nvPr/>
        </p:nvSpPr>
        <p:spPr>
          <a:xfrm>
            <a:off x="3520440" y="2487168"/>
            <a:ext cx="2331720" cy="1463040"/>
          </a:xfrm>
          <a:prstGeom prst="rect">
            <a:avLst/>
          </a:prstGeom>
          <a:noFill/>
          <a:ln/>
        </p:spPr>
        <p:txBody>
          <a:bodyPr wrap="square" lIns="0" tIns="0" rIns="0" bIns="0" rtlCol="0" anchor="t"/>
          <a:lstStyle/>
          <a:p>
            <a:pPr indent="0" marL="0">
              <a:buNone/>
            </a:pPr>
            <a:r>
              <a:rPr lang="en-US" sz="1100" dirty="0">
                <a:solidFill>
                  <a:srgbClr val="2B2340"/>
                </a:solidFill>
                <a:latin typeface="Calibri" pitchFamily="34" charset="0"/>
                <a:ea typeface="Calibri" pitchFamily="34" charset="-122"/>
                <a:cs typeface="Calibri" pitchFamily="34" charset="-120"/>
              </a:rPr>
              <a:t>A notebook and a mentee log for their own group only, the skill-verification queue, leave on the college form, their own upskilling shelf.</a:t>
            </a:r>
            <a:endParaRPr lang="en-US" sz="1100" dirty="0"/>
          </a:p>
        </p:txBody>
      </p:sp>
      <p:sp>
        <p:nvSpPr>
          <p:cNvPr id="15" name="Shape 11"/>
          <p:cNvSpPr/>
          <p:nvPr/>
        </p:nvSpPr>
        <p:spPr>
          <a:xfrm>
            <a:off x="6172200" y="1280160"/>
            <a:ext cx="2651760" cy="2743200"/>
          </a:xfrm>
          <a:prstGeom prst="roundRect">
            <a:avLst>
              <a:gd name="adj" fmla="val 4828"/>
            </a:avLst>
          </a:prstGeom>
          <a:solidFill>
            <a:srgbClr val="F7F4FC"/>
          </a:solidFill>
          <a:ln w="9525">
            <a:solidFill>
              <a:srgbClr val="D9D0EA"/>
            </a:solidFill>
            <a:prstDash val="solid"/>
          </a:ln>
        </p:spPr>
      </p:sp>
      <p:sp>
        <p:nvSpPr>
          <p:cNvPr id="16" name="Shape 12"/>
          <p:cNvSpPr/>
          <p:nvPr/>
        </p:nvSpPr>
        <p:spPr>
          <a:xfrm>
            <a:off x="6355080" y="1463040"/>
            <a:ext cx="566928" cy="566928"/>
          </a:xfrm>
          <a:prstGeom prst="ellipse">
            <a:avLst/>
          </a:prstGeom>
          <a:solidFill>
            <a:srgbClr val="DB2777"/>
          </a:solidFill>
          <a:ln w="12700">
            <a:solidFill>
              <a:srgbClr val="DB2777"/>
            </a:solidFill>
            <a:prstDash val="solid"/>
          </a:ln>
        </p:spPr>
      </p:sp>
      <p:pic>
        <p:nvPicPr>
          <p:cNvPr id="17" name="Image 2" descr="preencoded.png">    </p:cNvPr>
          <p:cNvPicPr>
            <a:picLocks noChangeAspect="1"/>
          </p:cNvPicPr>
          <p:nvPr/>
        </p:nvPicPr>
        <p:blipFill>
          <a:blip r:embed="rId3"/>
          <a:stretch>
            <a:fillRect/>
          </a:stretch>
        </p:blipFill>
        <p:spPr>
          <a:xfrm>
            <a:off x="6473952" y="1581912"/>
            <a:ext cx="329184" cy="329184"/>
          </a:xfrm>
          <a:prstGeom prst="rect">
            <a:avLst/>
          </a:prstGeom>
        </p:spPr>
      </p:pic>
      <p:sp>
        <p:nvSpPr>
          <p:cNvPr id="18" name="Text 13"/>
          <p:cNvSpPr txBox="1"/>
          <p:nvPr/>
        </p:nvSpPr>
        <p:spPr>
          <a:xfrm>
            <a:off x="6355080" y="2121408"/>
            <a:ext cx="2286000" cy="365760"/>
          </a:xfrm>
          <a:prstGeom prst="rect">
            <a:avLst/>
          </a:prstGeom>
          <a:noFill/>
          <a:ln/>
        </p:spPr>
        <p:txBody>
          <a:bodyPr wrap="square" lIns="0" tIns="0" rIns="0" bIns="0" rtlCol="0" anchor="ctr"/>
          <a:lstStyle/>
          <a:p>
            <a:pPr indent="0" marL="0">
              <a:buNone/>
            </a:pPr>
            <a:r>
              <a:rPr lang="en-US" sz="1600" b="1" dirty="0">
                <a:solidFill>
                  <a:srgbClr val="1E1338"/>
                </a:solidFill>
                <a:latin typeface="Calibri" pitchFamily="34" charset="0"/>
                <a:ea typeface="Calibri" pitchFamily="34" charset="-122"/>
                <a:cs typeface="Calibri" pitchFamily="34" charset="-120"/>
              </a:rPr>
              <a:t>Main Admin</a:t>
            </a:r>
            <a:endParaRPr lang="en-US" sz="1600" dirty="0"/>
          </a:p>
        </p:txBody>
      </p:sp>
      <p:sp>
        <p:nvSpPr>
          <p:cNvPr id="19" name="Text 14"/>
          <p:cNvSpPr txBox="1"/>
          <p:nvPr/>
        </p:nvSpPr>
        <p:spPr>
          <a:xfrm>
            <a:off x="6355080" y="2487168"/>
            <a:ext cx="2331720" cy="1463040"/>
          </a:xfrm>
          <a:prstGeom prst="rect">
            <a:avLst/>
          </a:prstGeom>
          <a:noFill/>
          <a:ln/>
        </p:spPr>
        <p:txBody>
          <a:bodyPr wrap="square" lIns="0" tIns="0" rIns="0" bIns="0" rtlCol="0" anchor="t"/>
          <a:lstStyle/>
          <a:p>
            <a:pPr indent="0" marL="0">
              <a:buNone/>
            </a:pPr>
            <a:r>
              <a:rPr lang="en-US" sz="1100" dirty="0">
                <a:solidFill>
                  <a:srgbClr val="2B2340"/>
                </a:solidFill>
                <a:latin typeface="Calibri" pitchFamily="34" charset="0"/>
                <a:ea typeface="Calibri" pitchFamily="34" charset="-122"/>
                <a:cs typeface="Calibri" pitchFamily="34" charset="-120"/>
              </a:rPr>
              <a:t>One office account: applications, the roster, faculty, assignments, leave sanction, jobs, interviews, SWOC, college setup, access grants, the audit trail.</a:t>
            </a:r>
            <a:endParaRPr lang="en-US" sz="1100" dirty="0"/>
          </a:p>
        </p:txBody>
      </p:sp>
      <p:sp>
        <p:nvSpPr>
          <p:cNvPr id="20" name="Shape 15"/>
          <p:cNvSpPr/>
          <p:nvPr/>
        </p:nvSpPr>
        <p:spPr>
          <a:xfrm>
            <a:off x="9006840" y="1280160"/>
            <a:ext cx="2651760" cy="2743200"/>
          </a:xfrm>
          <a:prstGeom prst="roundRect">
            <a:avLst>
              <a:gd name="adj" fmla="val 4828"/>
            </a:avLst>
          </a:prstGeom>
          <a:solidFill>
            <a:srgbClr val="F7F4FC"/>
          </a:solidFill>
          <a:ln w="9525">
            <a:solidFill>
              <a:srgbClr val="D9D0EA"/>
            </a:solidFill>
            <a:prstDash val="solid"/>
          </a:ln>
        </p:spPr>
      </p:sp>
      <p:sp>
        <p:nvSpPr>
          <p:cNvPr id="21" name="Shape 16"/>
          <p:cNvSpPr/>
          <p:nvPr/>
        </p:nvSpPr>
        <p:spPr>
          <a:xfrm>
            <a:off x="9189720" y="1463040"/>
            <a:ext cx="566928" cy="566928"/>
          </a:xfrm>
          <a:prstGeom prst="ellipse">
            <a:avLst/>
          </a:prstGeom>
          <a:solidFill>
            <a:srgbClr val="B45309"/>
          </a:solidFill>
          <a:ln w="12700">
            <a:solidFill>
              <a:srgbClr val="B45309"/>
            </a:solidFill>
            <a:prstDash val="solid"/>
          </a:ln>
        </p:spPr>
      </p:sp>
      <p:pic>
        <p:nvPicPr>
          <p:cNvPr id="22" name="Image 3" descr="preencoded.png">    </p:cNvPr>
          <p:cNvPicPr>
            <a:picLocks noChangeAspect="1"/>
          </p:cNvPicPr>
          <p:nvPr/>
        </p:nvPicPr>
        <p:blipFill>
          <a:blip r:embed="rId4"/>
          <a:stretch>
            <a:fillRect/>
          </a:stretch>
        </p:blipFill>
        <p:spPr>
          <a:xfrm>
            <a:off x="9308592" y="1581912"/>
            <a:ext cx="329184" cy="329184"/>
          </a:xfrm>
          <a:prstGeom prst="rect">
            <a:avLst/>
          </a:prstGeom>
        </p:spPr>
      </p:pic>
      <p:sp>
        <p:nvSpPr>
          <p:cNvPr id="23" name="Text 17"/>
          <p:cNvSpPr txBox="1"/>
          <p:nvPr/>
        </p:nvSpPr>
        <p:spPr>
          <a:xfrm>
            <a:off x="9189720" y="2121408"/>
            <a:ext cx="2286000" cy="365760"/>
          </a:xfrm>
          <a:prstGeom prst="rect">
            <a:avLst/>
          </a:prstGeom>
          <a:noFill/>
          <a:ln/>
        </p:spPr>
        <p:txBody>
          <a:bodyPr wrap="square" lIns="0" tIns="0" rIns="0" bIns="0" rtlCol="0" anchor="ctr"/>
          <a:lstStyle/>
          <a:p>
            <a:pPr indent="0" marL="0">
              <a:buNone/>
            </a:pPr>
            <a:r>
              <a:rPr lang="en-US" sz="1600" b="1" dirty="0">
                <a:solidFill>
                  <a:srgbClr val="1E1338"/>
                </a:solidFill>
                <a:latin typeface="Calibri" pitchFamily="34" charset="0"/>
                <a:ea typeface="Calibri" pitchFamily="34" charset="-122"/>
                <a:cs typeface="Calibri" pitchFamily="34" charset="-120"/>
              </a:rPr>
              <a:t>Alumni</a:t>
            </a:r>
            <a:endParaRPr lang="en-US" sz="1600" dirty="0"/>
          </a:p>
        </p:txBody>
      </p:sp>
      <p:sp>
        <p:nvSpPr>
          <p:cNvPr id="24" name="Text 18"/>
          <p:cNvSpPr txBox="1"/>
          <p:nvPr/>
        </p:nvSpPr>
        <p:spPr>
          <a:xfrm>
            <a:off x="9189720" y="2487168"/>
            <a:ext cx="2331720" cy="1463040"/>
          </a:xfrm>
          <a:prstGeom prst="rect">
            <a:avLst/>
          </a:prstGeom>
          <a:noFill/>
          <a:ln/>
        </p:spPr>
        <p:txBody>
          <a:bodyPr wrap="square" lIns="0" tIns="0" rIns="0" bIns="0" rtlCol="0" anchor="t"/>
          <a:lstStyle/>
          <a:p>
            <a:pPr indent="0" marL="0">
              <a:buNone/>
            </a:pPr>
            <a:r>
              <a:rPr lang="en-US" sz="1100" dirty="0">
                <a:solidFill>
                  <a:srgbClr val="2B2340"/>
                </a:solidFill>
                <a:latin typeface="Calibri" pitchFamily="34" charset="0"/>
                <a:ea typeface="Calibri" pitchFamily="34" charset="-122"/>
                <a:cs typeface="Calibri" pitchFamily="34" charset="-120"/>
              </a:rPr>
              <a:t>A profile with a resume and the jobs sheet — no student record, so no match %.</a:t>
            </a:r>
            <a:endParaRPr lang="en-US" sz="1100" dirty="0"/>
          </a:p>
        </p:txBody>
      </p:sp>
      <p:sp>
        <p:nvSpPr>
          <p:cNvPr id="25" name="Text 19"/>
          <p:cNvSpPr txBox="1"/>
          <p:nvPr/>
        </p:nvSpPr>
        <p:spPr>
          <a:xfrm>
            <a:off x="502920" y="4297680"/>
            <a:ext cx="11155680" cy="822960"/>
          </a:xfrm>
          <a:prstGeom prst="rect">
            <a:avLst/>
          </a:prstGeom>
          <a:noFill/>
          <a:ln/>
        </p:spPr>
        <p:txBody>
          <a:bodyPr wrap="square" lIns="0" tIns="0" rIns="0" bIns="0" rtlCol="0" anchor="t"/>
          <a:lstStyle/>
          <a:p>
            <a:pPr indent="0" marL="0">
              <a:buNone/>
            </a:pPr>
            <a:r>
              <a:rPr lang="en-US" sz="1300" b="1" dirty="0">
                <a:solidFill>
                  <a:srgbClr val="2B2340"/>
                </a:solidFill>
                <a:latin typeface="Calibri" pitchFamily="34" charset="0"/>
                <a:ea typeface="Calibri" pitchFamily="34" charset="-122"/>
                <a:cs typeface="Calibri" pitchFamily="34" charset="-120"/>
              </a:rPr>
              <a:t>One product, one front door. </a:t>
            </a:r>
            <a:pPr indent="0" marL="0">
              <a:buNone/>
            </a:pPr>
            <a:r>
              <a:rPr lang="en-US" sz="1300" dirty="0">
                <a:solidFill>
                  <a:srgbClr val="2B2340"/>
                </a:solidFill>
                <a:latin typeface="Calibri" pitchFamily="34" charset="0"/>
                <a:ea typeface="Calibri" pitchFamily="34" charset="-122"/>
                <a:cs typeface="Calibri" pitchFamily="34" charset="-120"/>
              </a:rPr>
              <a:t>An Angular single-page app talks to a FastAPI back end over HTTP on PostgreSQL. Every role signs in on the same login screen; the portal picker is a hint, the role on the account is the decision. Sign-in is Google or password, and an account holds one live session at a time.</a:t>
            </a:r>
            <a:endParaRPr lang="en-US" sz="1300" dirty="0"/>
          </a:p>
        </p:txBody>
      </p:sp>
      <p:sp>
        <p:nvSpPr>
          <p:cNvPr id="26" name="Shape 20"/>
          <p:cNvSpPr/>
          <p:nvPr/>
        </p:nvSpPr>
        <p:spPr>
          <a:xfrm>
            <a:off x="502920" y="5212080"/>
            <a:ext cx="5486400" cy="1143000"/>
          </a:xfrm>
          <a:prstGeom prst="roundRect">
            <a:avLst>
              <a:gd name="adj" fmla="val 9600"/>
            </a:avLst>
          </a:prstGeom>
          <a:solidFill>
            <a:srgbClr val="EFE9F7"/>
          </a:solidFill>
          <a:ln w="12700">
            <a:solidFill>
              <a:srgbClr val="EFE9F7"/>
            </a:solidFill>
            <a:prstDash val="solid"/>
          </a:ln>
        </p:spPr>
      </p:sp>
      <p:pic>
        <p:nvPicPr>
          <p:cNvPr id="27" name="Image 4" descr="preencoded.png">    </p:cNvPr>
          <p:cNvPicPr>
            <a:picLocks noChangeAspect="1"/>
          </p:cNvPicPr>
          <p:nvPr/>
        </p:nvPicPr>
        <p:blipFill>
          <a:blip r:embed="rId5"/>
          <a:stretch>
            <a:fillRect/>
          </a:stretch>
        </p:blipFill>
        <p:spPr>
          <a:xfrm>
            <a:off x="667512" y="5394960"/>
            <a:ext cx="365760" cy="365760"/>
          </a:xfrm>
          <a:prstGeom prst="rect">
            <a:avLst/>
          </a:prstGeom>
        </p:spPr>
      </p:pic>
      <p:sp>
        <p:nvSpPr>
          <p:cNvPr id="28" name="Text 21"/>
          <p:cNvSpPr txBox="1"/>
          <p:nvPr/>
        </p:nvSpPr>
        <p:spPr>
          <a:xfrm>
            <a:off x="1143000" y="5285232"/>
            <a:ext cx="4754880" cy="320040"/>
          </a:xfrm>
          <a:prstGeom prst="rect">
            <a:avLst/>
          </a:prstGeom>
          <a:noFill/>
          <a:ln/>
        </p:spPr>
        <p:txBody>
          <a:bodyPr wrap="square" lIns="0" tIns="0" rIns="0" bIns="0" rtlCol="0" anchor="ctr"/>
          <a:lstStyle/>
          <a:p>
            <a:pPr indent="0" marL="0">
              <a:buNone/>
            </a:pPr>
            <a:r>
              <a:rPr lang="en-US" sz="1200" b="1" dirty="0">
                <a:solidFill>
                  <a:srgbClr val="1E1338"/>
                </a:solidFill>
                <a:latin typeface="Calibri" pitchFamily="34" charset="0"/>
                <a:ea typeface="Calibri" pitchFamily="34" charset="-122"/>
                <a:cs typeface="Calibri" pitchFamily="34" charset="-120"/>
              </a:rPr>
              <a:t>Rule 1 — student data stays on the machine</a:t>
            </a:r>
            <a:endParaRPr lang="en-US" sz="1200" dirty="0"/>
          </a:p>
        </p:txBody>
      </p:sp>
      <p:sp>
        <p:nvSpPr>
          <p:cNvPr id="29" name="Text 22"/>
          <p:cNvSpPr txBox="1"/>
          <p:nvPr/>
        </p:nvSpPr>
        <p:spPr>
          <a:xfrm>
            <a:off x="1143000" y="5577840"/>
            <a:ext cx="4754880" cy="731520"/>
          </a:xfrm>
          <a:prstGeom prst="rect">
            <a:avLst/>
          </a:prstGeom>
          <a:noFill/>
          <a:ln/>
        </p:spPr>
        <p:txBody>
          <a:bodyPr wrap="square" lIns="0" tIns="0" rIns="0" bIns="0" rtlCol="0" anchor="t"/>
          <a:lstStyle/>
          <a:p>
            <a:pPr indent="0" marL="0">
              <a:buNone/>
            </a:pPr>
            <a:r>
              <a:rPr lang="en-US" sz="1000" dirty="0">
                <a:solidFill>
                  <a:srgbClr val="2B2340"/>
                </a:solidFill>
                <a:latin typeface="Calibri" pitchFamily="34" charset="0"/>
                <a:ea typeface="Calibri" pitchFamily="34" charset="-122"/>
                <a:cs typeface="Calibri" pitchFamily="34" charset="-120"/>
              </a:rPr>
              <a:t>A resume brief carries a name, USN, marks and attendance. Any path that sends a student's record to a model goes through one gate; refused, the resume is composed deterministically and says so.</a:t>
            </a:r>
            <a:endParaRPr lang="en-US" sz="1000" dirty="0"/>
          </a:p>
        </p:txBody>
      </p:sp>
      <p:sp>
        <p:nvSpPr>
          <p:cNvPr id="30" name="Shape 23"/>
          <p:cNvSpPr/>
          <p:nvPr/>
        </p:nvSpPr>
        <p:spPr>
          <a:xfrm>
            <a:off x="6126480" y="5212080"/>
            <a:ext cx="5486400" cy="1143000"/>
          </a:xfrm>
          <a:prstGeom prst="roundRect">
            <a:avLst>
              <a:gd name="adj" fmla="val 9600"/>
            </a:avLst>
          </a:prstGeom>
          <a:solidFill>
            <a:srgbClr val="EFE9F7"/>
          </a:solidFill>
          <a:ln w="12700">
            <a:solidFill>
              <a:srgbClr val="EFE9F7"/>
            </a:solidFill>
            <a:prstDash val="solid"/>
          </a:ln>
        </p:spPr>
      </p:sp>
      <p:pic>
        <p:nvPicPr>
          <p:cNvPr id="31" name="Image 5" descr="preencoded.png">    </p:cNvPr>
          <p:cNvPicPr>
            <a:picLocks noChangeAspect="1"/>
          </p:cNvPicPr>
          <p:nvPr/>
        </p:nvPicPr>
        <p:blipFill>
          <a:blip r:embed="rId6"/>
          <a:stretch>
            <a:fillRect/>
          </a:stretch>
        </p:blipFill>
        <p:spPr>
          <a:xfrm>
            <a:off x="6291072" y="5394960"/>
            <a:ext cx="365760" cy="365760"/>
          </a:xfrm>
          <a:prstGeom prst="rect">
            <a:avLst/>
          </a:prstGeom>
        </p:spPr>
      </p:pic>
      <p:sp>
        <p:nvSpPr>
          <p:cNvPr id="32" name="Text 24"/>
          <p:cNvSpPr txBox="1"/>
          <p:nvPr/>
        </p:nvSpPr>
        <p:spPr>
          <a:xfrm>
            <a:off x="6766560" y="5285232"/>
            <a:ext cx="4754880" cy="320040"/>
          </a:xfrm>
          <a:prstGeom prst="rect">
            <a:avLst/>
          </a:prstGeom>
          <a:noFill/>
          <a:ln/>
        </p:spPr>
        <p:txBody>
          <a:bodyPr wrap="square" lIns="0" tIns="0" rIns="0" bIns="0" rtlCol="0" anchor="ctr"/>
          <a:lstStyle/>
          <a:p>
            <a:pPr indent="0" marL="0">
              <a:buNone/>
            </a:pPr>
            <a:r>
              <a:rPr lang="en-US" sz="1200" b="1" dirty="0">
                <a:solidFill>
                  <a:srgbClr val="1E1338"/>
                </a:solidFill>
                <a:latin typeface="Calibri" pitchFamily="34" charset="0"/>
                <a:ea typeface="Calibri" pitchFamily="34" charset="-122"/>
                <a:cs typeface="Calibri" pitchFamily="34" charset="-120"/>
              </a:rPr>
              <a:t>Rule 2 — staff scope is decided by role</a:t>
            </a:r>
            <a:endParaRPr lang="en-US" sz="1200" dirty="0"/>
          </a:p>
        </p:txBody>
      </p:sp>
      <p:sp>
        <p:nvSpPr>
          <p:cNvPr id="33" name="Text 25"/>
          <p:cNvSpPr txBox="1"/>
          <p:nvPr/>
        </p:nvSpPr>
        <p:spPr>
          <a:xfrm>
            <a:off x="6766560" y="5577840"/>
            <a:ext cx="4754880" cy="731520"/>
          </a:xfrm>
          <a:prstGeom prst="rect">
            <a:avLst/>
          </a:prstGeom>
          <a:noFill/>
          <a:ln/>
        </p:spPr>
        <p:txBody>
          <a:bodyPr wrap="square" lIns="0" tIns="0" rIns="0" bIns="0" rtlCol="0" anchor="t"/>
          <a:lstStyle/>
          <a:p>
            <a:pPr indent="0" marL="0">
              <a:buNone/>
            </a:pPr>
            <a:r>
              <a:rPr lang="en-US" sz="1000" dirty="0">
                <a:solidFill>
                  <a:srgbClr val="2B2340"/>
                </a:solidFill>
                <a:latin typeface="Calibri" pitchFamily="34" charset="0"/>
                <a:ea typeface="Calibri" pitchFamily="34" charset="-122"/>
                <a:cs typeface="Calibri" pitchFamily="34" charset="-120"/>
              </a:rPr>
              <a:t>A mentor sees only the students in their own group; a mentor with no group sees nobody. Console screens reach a faculty member only as a grant the Main Admin makes, with a reason, on the audit trail.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One login for every role</a:t>
            </a:r>
            <a:endParaRPr lang="en-US" sz="3000" dirty="0"/>
          </a:p>
        </p:txBody>
      </p:sp>
      <p:sp>
        <p:nvSpPr>
          <p:cNvPr id="5" name="Shape 3"/>
          <p:cNvSpPr/>
          <p:nvPr/>
        </p:nvSpPr>
        <p:spPr>
          <a:xfrm>
            <a:off x="502920" y="1170432"/>
            <a:ext cx="1161288" cy="292608"/>
          </a:xfrm>
          <a:prstGeom prst="roundRect">
            <a:avLst>
              <a:gd name="adj" fmla="val 50000"/>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STUDENT</a:t>
            </a:r>
            <a:endParaRPr lang="en-US" sz="900" dirty="0"/>
          </a:p>
        </p:txBody>
      </p:sp>
      <p:sp>
        <p:nvSpPr>
          <p:cNvPr id="8" name="Text 5"/>
          <p:cNvSpPr txBox="1"/>
          <p:nvPr/>
        </p:nvSpPr>
        <p:spPr>
          <a:xfrm>
            <a:off x="502920" y="1645920"/>
            <a:ext cx="3520440" cy="420624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Choose your portal — Student, Faculty, Alumni — or the dashed Main Admin door for the placement office.</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The picker only changes the hint on the ID box; the role on the account decides where you land.</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Sign in with the college address (students may type the USN) and a password, or with Google — an unknown Google account is refused, nothing self-provisions.</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One device at a time: signing in elsewhere signs the older session out and the screen says so.</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“Forgot password?” emails a link; a student who never had a password is mailed the three-step setup walk instead.</a:t>
            </a:r>
            <a:endParaRPr lang="en-US" sz="1300" dirty="0"/>
          </a:p>
        </p:txBody>
      </p:sp>
      <p:sp>
        <p:nvSpPr>
          <p:cNvPr id="9" name="Shape 6"/>
          <p:cNvSpPr/>
          <p:nvPr/>
        </p:nvSpPr>
        <p:spPr>
          <a:xfrm>
            <a:off x="4297680" y="1188720"/>
            <a:ext cx="7452360" cy="4231958"/>
          </a:xfrm>
          <a:prstGeom prst="roundRect">
            <a:avLst>
              <a:gd name="adj" fmla="val 3457"/>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4343400" y="1234440"/>
            <a:ext cx="7360920" cy="41405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77240" y="822960"/>
            <a:ext cx="822960" cy="822960"/>
          </a:xfrm>
          <a:prstGeom prst="rect">
            <a:avLst/>
          </a:prstGeom>
        </p:spPr>
      </p:pic>
      <p:sp>
        <p:nvSpPr>
          <p:cNvPr id="3" name="Text 0"/>
          <p:cNvSpPr txBox="1"/>
          <p:nvPr/>
        </p:nvSpPr>
        <p:spPr>
          <a:xfrm>
            <a:off x="731520" y="1737360"/>
            <a:ext cx="10515600" cy="1188720"/>
          </a:xfrm>
          <a:prstGeom prst="rect">
            <a:avLst/>
          </a:prstGeom>
          <a:noFill/>
          <a:ln/>
        </p:spPr>
        <p:txBody>
          <a:bodyPr wrap="square" lIns="0" tIns="0" rIns="0" bIns="0" rtlCol="0" anchor="b"/>
          <a:lstStyle/>
          <a:p>
            <a:pPr indent="0" marL="0">
              <a:buNone/>
            </a:pPr>
            <a:r>
              <a:rPr lang="en-US" sz="4600" b="1" dirty="0">
                <a:solidFill>
                  <a:srgbClr val="FFFFFF"/>
                </a:solidFill>
                <a:latin typeface="Calibri" pitchFamily="34" charset="0"/>
                <a:ea typeface="Calibri" pitchFamily="34" charset="-122"/>
                <a:cs typeface="Calibri" pitchFamily="34" charset="-120"/>
              </a:rPr>
              <a:t>Student portal</a:t>
            </a:r>
            <a:endParaRPr lang="en-US" sz="4600" dirty="0"/>
          </a:p>
        </p:txBody>
      </p:sp>
      <p:sp>
        <p:nvSpPr>
          <p:cNvPr id="4" name="Text 1"/>
          <p:cNvSpPr txBox="1"/>
          <p:nvPr/>
        </p:nvSpPr>
        <p:spPr>
          <a:xfrm>
            <a:off x="731520" y="3017520"/>
            <a:ext cx="10241280" cy="1188720"/>
          </a:xfrm>
          <a:prstGeom prst="rect">
            <a:avLst/>
          </a:prstGeom>
          <a:noFill/>
          <a:ln/>
        </p:spPr>
        <p:txBody>
          <a:bodyPr wrap="square" lIns="0" tIns="0" rIns="0" bIns="0" rtlCol="0" anchor="t"/>
          <a:lstStyle/>
          <a:p>
            <a:pPr indent="0" marL="0">
              <a:buNone/>
            </a:pPr>
            <a:r>
              <a:rPr lang="en-US" sz="1800" dirty="0">
                <a:solidFill>
                  <a:srgbClr val="F3E8FF"/>
                </a:solidFill>
                <a:latin typeface="Calibri" pitchFamily="34" charset="0"/>
                <a:ea typeface="Calibri" pitchFamily="34" charset="-122"/>
                <a:cs typeface="Calibri" pitchFamily="34" charset="-120"/>
              </a:rPr>
              <a:t>Home · Jobs · Skilling · Leaderboards · Time Sheet · Faculty / TPO Log · Resume Builder — plus Uploads, Profile, Records, English, Interviews and the assistant dock on every screen.</a:t>
            </a:r>
            <a:endParaRPr lang="en-US" sz="1800" dirty="0"/>
          </a:p>
        </p:txBody>
      </p:sp>
      <p:sp>
        <p:nvSpPr>
          <p:cNvPr id="5" name="Text 2"/>
          <p:cNvSpPr txBox="1"/>
          <p:nvPr/>
        </p:nvSpPr>
        <p:spPr>
          <a:xfrm>
            <a:off x="777240" y="4343400"/>
            <a:ext cx="7498080" cy="201168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Signs in as student@bgscet.ac.in (Test Student, MBA 2024-26, Semester 2)</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Claims a skill with a certificate, reconciles and submits the day's time sheet, asks the mentor for a meeting</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Opens the assistant: Ask REEP answers from the record; the Mock interview room picks a round</a:t>
            </a:r>
            <a:endParaRPr lang="en-US" sz="1400" dirty="0"/>
          </a:p>
        </p:txBody>
      </p:sp>
      <p:sp>
        <p:nvSpPr>
          <p:cNvPr id="6" name="Shape 3"/>
          <p:cNvSpPr/>
          <p:nvPr/>
        </p:nvSpPr>
        <p:spPr>
          <a:xfrm>
            <a:off x="8549640" y="4434840"/>
            <a:ext cx="3017520" cy="1097280"/>
          </a:xfrm>
          <a:prstGeom prst="roundRect">
            <a:avLst>
              <a:gd name="adj" fmla="val 13333"/>
            </a:avLst>
          </a:prstGeom>
          <a:solidFill>
            <a:srgbClr val="FFFFFF"/>
          </a:solidFill>
          <a:ln w="12700">
            <a:solidFill>
              <a:srgbClr val="FFFFFF"/>
            </a:solidFill>
            <a:prstDash val="solid"/>
          </a:ln>
        </p:spPr>
      </p:sp>
      <p:pic>
        <p:nvPicPr>
          <p:cNvPr id="7" name="Image 1" descr="preencoded.png">    </p:cNvPr>
          <p:cNvPicPr>
            <a:picLocks noChangeAspect="1"/>
          </p:cNvPicPr>
          <p:nvPr/>
        </p:nvPicPr>
        <p:blipFill>
          <a:blip r:embed="rId3"/>
          <a:stretch>
            <a:fillRect/>
          </a:stretch>
        </p:blipFill>
        <p:spPr>
          <a:xfrm>
            <a:off x="8732520" y="4636008"/>
            <a:ext cx="457200" cy="457200"/>
          </a:xfrm>
          <a:prstGeom prst="rect">
            <a:avLst/>
          </a:prstGeom>
        </p:spPr>
      </p:pic>
      <p:sp>
        <p:nvSpPr>
          <p:cNvPr id="8" name="Text 4"/>
          <p:cNvSpPr txBox="1"/>
          <p:nvPr/>
        </p:nvSpPr>
        <p:spPr>
          <a:xfrm>
            <a:off x="9281160" y="4480560"/>
            <a:ext cx="2240280" cy="1005840"/>
          </a:xfrm>
          <a:prstGeom prst="rect">
            <a:avLst/>
          </a:prstGeom>
          <a:noFill/>
          <a:ln/>
        </p:spPr>
        <p:txBody>
          <a:bodyPr wrap="square" lIns="0" tIns="0" rIns="0" bIns="0" rtlCol="0" anchor="ctr"/>
          <a:lstStyle/>
          <a:p>
            <a:pPr indent="0" marL="0">
              <a:buNone/>
            </a:pPr>
            <a:r>
              <a:rPr lang="en-US" sz="1200" b="1" dirty="0">
                <a:solidFill>
                  <a:srgbClr val="1E1338"/>
                </a:solidFill>
                <a:latin typeface="Calibri" pitchFamily="34" charset="0"/>
                <a:ea typeface="Calibri" pitchFamily="34" charset="-122"/>
                <a:cs typeface="Calibri" pitchFamily="34" charset="-120"/>
              </a:rPr>
              <a:t>Video</a:t>
            </a:r>
            <a:endParaRPr lang="en-US" sz="1200" dirty="0"/>
          </a:p>
          <a:p>
            <a:pPr indent="0" marL="0">
              <a:buNone/>
            </a:pPr>
            <a:r>
              <a:rPr lang="en-US" sz="1200" dirty="0">
                <a:solidFill>
                  <a:srgbClr val="1E1338"/>
                </a:solidFill>
                <a:latin typeface="Calibri" pitchFamily="34" charset="0"/>
                <a:ea typeface="Calibri" pitchFamily="34" charset="-122"/>
                <a:cs typeface="Calibri" pitchFamily="34" charset="-120"/>
              </a:rPr>
              <a:t>student.mp4 · 2:34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Home — where the student stands today</a:t>
            </a:r>
            <a:endParaRPr lang="en-US" sz="3000" dirty="0"/>
          </a:p>
        </p:txBody>
      </p:sp>
      <p:sp>
        <p:nvSpPr>
          <p:cNvPr id="5" name="Shape 3"/>
          <p:cNvSpPr/>
          <p:nvPr/>
        </p:nvSpPr>
        <p:spPr>
          <a:xfrm>
            <a:off x="502920" y="1170432"/>
            <a:ext cx="1161288" cy="292608"/>
          </a:xfrm>
          <a:prstGeom prst="roundRect">
            <a:avLst>
              <a:gd name="adj" fmla="val 50000"/>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STUDENT</a:t>
            </a:r>
            <a:endParaRPr lang="en-US" sz="900" dirty="0"/>
          </a:p>
        </p:txBody>
      </p:sp>
      <p:sp>
        <p:nvSpPr>
          <p:cNvPr id="8" name="Text 5"/>
          <p:cNvSpPr txBox="1"/>
          <p:nvPr/>
        </p:nvSpPr>
        <p:spPr>
          <a:xfrm>
            <a:off x="502920" y="1645920"/>
            <a:ext cx="3520440" cy="420624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The three programme stages — Reboot, Excel, Elevate — with each module Completed, In progress or Not started.</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SWOC: the Strengths, Weaknesses, Opportunities and Challenges the mentor and the placement office wrote, each signed and dated; the student marks a line as read.</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Attendance and VTU marks against the placement criteria; a dash where nothing has been imported yet — never a zero.</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A login streak in the header, and the readiness score with its weakest factor and the action that lifts it.</a:t>
            </a:r>
            <a:endParaRPr lang="en-US" sz="1300" dirty="0"/>
          </a:p>
        </p:txBody>
      </p:sp>
      <p:sp>
        <p:nvSpPr>
          <p:cNvPr id="9" name="Shape 6"/>
          <p:cNvSpPr/>
          <p:nvPr/>
        </p:nvSpPr>
        <p:spPr>
          <a:xfrm>
            <a:off x="4297680" y="1188720"/>
            <a:ext cx="7452360" cy="4231958"/>
          </a:xfrm>
          <a:prstGeom prst="roundRect">
            <a:avLst>
              <a:gd name="adj" fmla="val 3457"/>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4343400" y="1234440"/>
            <a:ext cx="7360920" cy="41405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Jobs and Skilling</a:t>
            </a:r>
            <a:endParaRPr lang="en-US" sz="3000" dirty="0"/>
          </a:p>
        </p:txBody>
      </p:sp>
      <p:sp>
        <p:nvSpPr>
          <p:cNvPr id="5" name="Shape 3"/>
          <p:cNvSpPr/>
          <p:nvPr/>
        </p:nvSpPr>
        <p:spPr>
          <a:xfrm>
            <a:off x="502920" y="1170432"/>
            <a:ext cx="1161288" cy="292608"/>
          </a:xfrm>
          <a:prstGeom prst="roundRect">
            <a:avLst>
              <a:gd name="adj" fmla="val 50000"/>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STUDENT</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Jobs: every posting the office published, with this student's match % and an eligibility verdict against the placement criteria (CGPA, backlogs, skills). Skilling: the 48-badge board — managerial, sectoral, platform, thinking and readiness — with earned badges lit and claims in review wearing a clock.</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Jobs — match % and eligibility are computed from the student's own record</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Skilling — the badge board; a verified badge carries the mentor's blue tick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Claim a skill with a certificate</a:t>
            </a:r>
            <a:endParaRPr lang="en-US" sz="3000" dirty="0"/>
          </a:p>
        </p:txBody>
      </p:sp>
      <p:sp>
        <p:nvSpPr>
          <p:cNvPr id="5" name="Shape 3"/>
          <p:cNvSpPr/>
          <p:nvPr/>
        </p:nvSpPr>
        <p:spPr>
          <a:xfrm>
            <a:off x="502920" y="1170432"/>
            <a:ext cx="1161288" cy="292608"/>
          </a:xfrm>
          <a:prstGeom prst="roundRect">
            <a:avLst>
              <a:gd name="adj" fmla="val 50000"/>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STUDENT</a:t>
            </a:r>
            <a:endParaRPr lang="en-US" sz="900" dirty="0"/>
          </a:p>
        </p:txBody>
      </p:sp>
      <p:sp>
        <p:nvSpPr>
          <p:cNvPr id="8" name="Text 5"/>
          <p:cNvSpPr txBox="1"/>
          <p:nvPr/>
        </p:nvSpPr>
        <p:spPr>
          <a:xfrm>
            <a:off x="502920" y="1645920"/>
            <a:ext cx="3520440" cy="420624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1 · Upload the certificate (PDF or JPEG, up to 5 MB). It is stored under Uploads with its review status.</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2 · Pick the skill category and the badge the certificate proves; name the issuer and leave a note for the mentor.</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3 · Submit. The claim now waits in the mentor's Skill Verifications queue, and the mentor is emailed.</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The badge lights up only when the mentor presses Verify — a certificate is evidence, never a badge by itself.</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Request changes or Reject come back with the mentor's note, on screen and by mail.</a:t>
            </a:r>
            <a:endParaRPr lang="en-US" sz="1300" dirty="0"/>
          </a:p>
        </p:txBody>
      </p:sp>
      <p:sp>
        <p:nvSpPr>
          <p:cNvPr id="9" name="Shape 6"/>
          <p:cNvSpPr/>
          <p:nvPr/>
        </p:nvSpPr>
        <p:spPr>
          <a:xfrm>
            <a:off x="4297680" y="1188720"/>
            <a:ext cx="7452360" cy="4231958"/>
          </a:xfrm>
          <a:prstGeom prst="roundRect">
            <a:avLst>
              <a:gd name="adj" fmla="val 3457"/>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4343400" y="1234440"/>
            <a:ext cx="7360920" cy="41405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Time Sheet and the Faculty / TPO Log</a:t>
            </a:r>
            <a:endParaRPr lang="en-US" sz="3000" dirty="0"/>
          </a:p>
        </p:txBody>
      </p:sp>
      <p:sp>
        <p:nvSpPr>
          <p:cNvPr id="5" name="Shape 3"/>
          <p:cNvSpPr/>
          <p:nvPr/>
        </p:nvSpPr>
        <p:spPr>
          <a:xfrm>
            <a:off x="502920" y="1170432"/>
            <a:ext cx="1161288" cy="292608"/>
          </a:xfrm>
          <a:prstGeom prst="roundRect">
            <a:avLst>
              <a:gd name="adj" fmla="val 50000"/>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STUDENT</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The Time Allocation Ledger: six slots across the day × five activity heads, in half hours; the day must add to exactly 24 h before Submit is allowed, and a submitted day is read-only. The Faculty / TPO Log is the student's own record of every 1:1, and Request a meeting sends a note straight to the mentor's Mentee Log.</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The day reconciled to 24 h and submitted</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“Sent to Test Mentor. It appears in your meeting log below.”</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The rest of the student's desk</a:t>
            </a:r>
            <a:endParaRPr lang="en-US" sz="3000" dirty="0"/>
          </a:p>
        </p:txBody>
      </p:sp>
      <p:sp>
        <p:nvSpPr>
          <p:cNvPr id="5" name="Shape 3"/>
          <p:cNvSpPr/>
          <p:nvPr/>
        </p:nvSpPr>
        <p:spPr>
          <a:xfrm>
            <a:off x="502920" y="1170432"/>
            <a:ext cx="1161288" cy="292608"/>
          </a:xfrm>
          <a:prstGeom prst="roundRect">
            <a:avLst>
              <a:gd name="adj" fmla="val 50000"/>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STUDENT</a:t>
            </a:r>
            <a:endParaRPr lang="en-US" sz="900" dirty="0"/>
          </a:p>
        </p:txBody>
      </p:sp>
      <p:sp>
        <p:nvSpPr>
          <p:cNvPr id="8" name="Text 5"/>
          <p:cNvSpPr txBox="1"/>
          <p:nvPr/>
        </p:nvSpPr>
        <p:spPr>
          <a:xfrm>
            <a:off x="2926080" y="1133856"/>
            <a:ext cx="8686800" cy="365760"/>
          </a:xfrm>
          <a:prstGeom prst="rect">
            <a:avLst/>
          </a:prstGeom>
          <a:noFill/>
          <a:ln/>
        </p:spPr>
        <p:txBody>
          <a:bodyPr wrap="square" lIns="0" tIns="0" rIns="0" bIns="0" rtlCol="0" anchor="ctr"/>
          <a:lstStyle/>
          <a:p>
            <a:pPr indent="0" marL="0">
              <a:buNone/>
            </a:pPr>
            <a:r>
              <a:rPr lang="en-US" sz="1250" dirty="0">
                <a:solidFill>
                  <a:srgbClr val="2B2340"/>
                </a:solidFill>
                <a:latin typeface="Calibri" pitchFamily="34" charset="0"/>
                <a:ea typeface="Calibri" pitchFamily="34" charset="-122"/>
                <a:cs typeface="Calibri" pitchFamily="34" charset="-120"/>
              </a:rPr>
              <a:t>Reached from Home and the screens that own the work: the resume, every document and its review status, the locked institution card, imported results, the English baseline and past interviews.</a:t>
            </a:r>
            <a:endParaRPr lang="en-US" sz="1250" dirty="0"/>
          </a:p>
        </p:txBody>
      </p:sp>
      <p:sp>
        <p:nvSpPr>
          <p:cNvPr id="9" name="Shape 6"/>
          <p:cNvSpPr/>
          <p:nvPr/>
        </p:nvSpPr>
        <p:spPr>
          <a:xfrm>
            <a:off x="50292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1627632"/>
            <a:ext cx="3474720" cy="1954530"/>
          </a:xfrm>
          <a:prstGeom prst="rect">
            <a:avLst/>
          </a:prstGeom>
        </p:spPr>
      </p:pic>
      <p:sp>
        <p:nvSpPr>
          <p:cNvPr id="11" name="Text 7"/>
          <p:cNvSpPr txBox="1"/>
          <p:nvPr/>
        </p:nvSpPr>
        <p:spPr>
          <a:xfrm>
            <a:off x="54864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Resume Builder — rendered to PDF locally</a:t>
            </a:r>
            <a:endParaRPr lang="en-US" sz="1050" dirty="0"/>
          </a:p>
        </p:txBody>
      </p:sp>
      <p:sp>
        <p:nvSpPr>
          <p:cNvPr id="12" name="Shape 8"/>
          <p:cNvSpPr/>
          <p:nvPr/>
        </p:nvSpPr>
        <p:spPr>
          <a:xfrm>
            <a:off x="429768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4343400" y="1627632"/>
            <a:ext cx="3474720" cy="1954530"/>
          </a:xfrm>
          <a:prstGeom prst="rect">
            <a:avLst/>
          </a:prstGeom>
        </p:spPr>
      </p:pic>
      <p:sp>
        <p:nvSpPr>
          <p:cNvPr id="14" name="Text 9"/>
          <p:cNvSpPr txBox="1"/>
          <p:nvPr/>
        </p:nvSpPr>
        <p:spPr>
          <a:xfrm>
            <a:off x="434340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Uploads — every document and its verdict</a:t>
            </a:r>
            <a:endParaRPr lang="en-US" sz="1050" dirty="0"/>
          </a:p>
        </p:txBody>
      </p:sp>
      <p:sp>
        <p:nvSpPr>
          <p:cNvPr id="15" name="Shape 10"/>
          <p:cNvSpPr/>
          <p:nvPr/>
        </p:nvSpPr>
        <p:spPr>
          <a:xfrm>
            <a:off x="809244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6" name="Image 3" descr="preencoded.png">    </p:cNvPr>
          <p:cNvPicPr>
            <a:picLocks noChangeAspect="1"/>
          </p:cNvPicPr>
          <p:nvPr/>
        </p:nvPicPr>
        <p:blipFill>
          <a:blip r:embed="rId4"/>
          <a:stretch>
            <a:fillRect/>
          </a:stretch>
        </p:blipFill>
        <p:spPr>
          <a:xfrm>
            <a:off x="8138160" y="1627632"/>
            <a:ext cx="3474720" cy="1954530"/>
          </a:xfrm>
          <a:prstGeom prst="rect">
            <a:avLst/>
          </a:prstGeom>
        </p:spPr>
      </p:pic>
      <p:sp>
        <p:nvSpPr>
          <p:cNvPr id="17" name="Text 11"/>
          <p:cNvSpPr txBox="1"/>
          <p:nvPr/>
        </p:nvSpPr>
        <p:spPr>
          <a:xfrm>
            <a:off x="813816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Profile — the institution card read through the spine</a:t>
            </a:r>
            <a:endParaRPr lang="en-US" sz="1050" dirty="0"/>
          </a:p>
        </p:txBody>
      </p:sp>
      <p:sp>
        <p:nvSpPr>
          <p:cNvPr id="18" name="Shape 12"/>
          <p:cNvSpPr/>
          <p:nvPr/>
        </p:nvSpPr>
        <p:spPr>
          <a:xfrm>
            <a:off x="50292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9" name="Image 4" descr="preencoded.png">    </p:cNvPr>
          <p:cNvPicPr>
            <a:picLocks noChangeAspect="1"/>
          </p:cNvPicPr>
          <p:nvPr/>
        </p:nvPicPr>
        <p:blipFill>
          <a:blip r:embed="rId5"/>
          <a:stretch>
            <a:fillRect/>
          </a:stretch>
        </p:blipFill>
        <p:spPr>
          <a:xfrm>
            <a:off x="548640" y="4039362"/>
            <a:ext cx="3474720" cy="1954530"/>
          </a:xfrm>
          <a:prstGeom prst="rect">
            <a:avLst/>
          </a:prstGeom>
        </p:spPr>
      </p:pic>
      <p:sp>
        <p:nvSpPr>
          <p:cNvPr id="20" name="Text 13"/>
          <p:cNvSpPr txBox="1"/>
          <p:nvPr/>
        </p:nvSpPr>
        <p:spPr>
          <a:xfrm>
            <a:off x="54864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Records — marks and attendance as imported</a:t>
            </a:r>
            <a:endParaRPr lang="en-US" sz="1050" dirty="0"/>
          </a:p>
        </p:txBody>
      </p:sp>
      <p:sp>
        <p:nvSpPr>
          <p:cNvPr id="21" name="Shape 14"/>
          <p:cNvSpPr/>
          <p:nvPr/>
        </p:nvSpPr>
        <p:spPr>
          <a:xfrm>
            <a:off x="429768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2" name="Image 5" descr="preencoded.png">    </p:cNvPr>
          <p:cNvPicPr>
            <a:picLocks noChangeAspect="1"/>
          </p:cNvPicPr>
          <p:nvPr/>
        </p:nvPicPr>
        <p:blipFill>
          <a:blip r:embed="rId6"/>
          <a:stretch>
            <a:fillRect/>
          </a:stretch>
        </p:blipFill>
        <p:spPr>
          <a:xfrm>
            <a:off x="4343400" y="4039362"/>
            <a:ext cx="3474720" cy="1954530"/>
          </a:xfrm>
          <a:prstGeom prst="rect">
            <a:avLst/>
          </a:prstGeom>
        </p:spPr>
      </p:pic>
      <p:sp>
        <p:nvSpPr>
          <p:cNvPr id="23" name="Text 15"/>
          <p:cNvSpPr txBox="1"/>
          <p:nvPr/>
        </p:nvSpPr>
        <p:spPr>
          <a:xfrm>
            <a:off x="434340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English baseline — a pending section is a dash</a:t>
            </a:r>
            <a:endParaRPr lang="en-US" sz="1050" dirty="0"/>
          </a:p>
        </p:txBody>
      </p:sp>
      <p:sp>
        <p:nvSpPr>
          <p:cNvPr id="24" name="Shape 16"/>
          <p:cNvSpPr/>
          <p:nvPr/>
        </p:nvSpPr>
        <p:spPr>
          <a:xfrm>
            <a:off x="809244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5" name="Image 6" descr="preencoded.png">    </p:cNvPr>
          <p:cNvPicPr>
            <a:picLocks noChangeAspect="1"/>
          </p:cNvPicPr>
          <p:nvPr/>
        </p:nvPicPr>
        <p:blipFill>
          <a:blip r:embed="rId7"/>
          <a:stretch>
            <a:fillRect/>
          </a:stretch>
        </p:blipFill>
        <p:spPr>
          <a:xfrm>
            <a:off x="8138160" y="4039362"/>
            <a:ext cx="3474720" cy="1954530"/>
          </a:xfrm>
          <a:prstGeom prst="rect">
            <a:avLst/>
          </a:prstGeom>
        </p:spPr>
      </p:pic>
      <p:sp>
        <p:nvSpPr>
          <p:cNvPr id="26" name="Text 17"/>
          <p:cNvSpPr txBox="1"/>
          <p:nvPr/>
        </p:nvSpPr>
        <p:spPr>
          <a:xfrm>
            <a:off x="813816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Interviews — transcript and practice report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The assistant dock: Ask REEP and the Mock interview</a:t>
            </a:r>
            <a:endParaRPr lang="en-US" sz="3000" dirty="0"/>
          </a:p>
        </p:txBody>
      </p:sp>
      <p:sp>
        <p:nvSpPr>
          <p:cNvPr id="5" name="Shape 3"/>
          <p:cNvSpPr/>
          <p:nvPr/>
        </p:nvSpPr>
        <p:spPr>
          <a:xfrm>
            <a:off x="502920" y="1170432"/>
            <a:ext cx="1161288" cy="292608"/>
          </a:xfrm>
          <a:prstGeom prst="roundRect">
            <a:avLst>
              <a:gd name="adj" fmla="val 50000"/>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STUDENT</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The floating orb on every screen opens one dock with two tabs. Ask REEP is the typed agent: it answers from the approved Knowledge Base and the student's own record, shows its sources and offers buttons to act. Mock interview is a speech-to-speech campus-round interviewer (Amazon Nova 2 Sonic) with a real arc — opening, probing, deep dive, wrap-up — and a scorecard; the round is preselected from the student's batch, and consent is asked before anything is stored.</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Ask REEP — “Which open jobs am I eligible for?”</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Mock interview — pick the round, then Start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77240" y="822960"/>
            <a:ext cx="822960" cy="822960"/>
          </a:xfrm>
          <a:prstGeom prst="rect">
            <a:avLst/>
          </a:prstGeom>
        </p:spPr>
      </p:pic>
      <p:sp>
        <p:nvSpPr>
          <p:cNvPr id="3" name="Text 0"/>
          <p:cNvSpPr txBox="1"/>
          <p:nvPr/>
        </p:nvSpPr>
        <p:spPr>
          <a:xfrm>
            <a:off x="731520" y="1737360"/>
            <a:ext cx="10515600" cy="1188720"/>
          </a:xfrm>
          <a:prstGeom prst="rect">
            <a:avLst/>
          </a:prstGeom>
          <a:noFill/>
          <a:ln/>
        </p:spPr>
        <p:txBody>
          <a:bodyPr wrap="square" lIns="0" tIns="0" rIns="0" bIns="0" rtlCol="0" anchor="b"/>
          <a:lstStyle/>
          <a:p>
            <a:pPr indent="0" marL="0">
              <a:buNone/>
            </a:pPr>
            <a:r>
              <a:rPr lang="en-US" sz="4600" b="1" dirty="0">
                <a:solidFill>
                  <a:srgbClr val="FFFFFF"/>
                </a:solidFill>
                <a:latin typeface="Calibri" pitchFamily="34" charset="0"/>
                <a:ea typeface="Calibri" pitchFamily="34" charset="-122"/>
                <a:cs typeface="Calibri" pitchFamily="34" charset="-120"/>
              </a:rPr>
              <a:t>Faculty portal</a:t>
            </a:r>
            <a:endParaRPr lang="en-US" sz="4600" dirty="0"/>
          </a:p>
        </p:txBody>
      </p:sp>
      <p:sp>
        <p:nvSpPr>
          <p:cNvPr id="4" name="Text 1"/>
          <p:cNvSpPr txBox="1"/>
          <p:nvPr/>
        </p:nvSpPr>
        <p:spPr>
          <a:xfrm>
            <a:off x="731520" y="3017520"/>
            <a:ext cx="10241280" cy="1188720"/>
          </a:xfrm>
          <a:prstGeom prst="rect">
            <a:avLst/>
          </a:prstGeom>
          <a:noFill/>
          <a:ln/>
        </p:spPr>
        <p:txBody>
          <a:bodyPr wrap="square" lIns="0" tIns="0" rIns="0" bIns="0" rtlCol="0" anchor="t"/>
          <a:lstStyle/>
          <a:p>
            <a:pPr indent="0" marL="0">
              <a:buNone/>
            </a:pPr>
            <a:r>
              <a:rPr lang="en-US" sz="1800" dirty="0">
                <a:solidFill>
                  <a:srgbClr val="F3E8FF"/>
                </a:solidFill>
                <a:latin typeface="Calibri" pitchFamily="34" charset="0"/>
                <a:ea typeface="Calibri" pitchFamily="34" charset="-122"/>
                <a:cs typeface="Calibri" pitchFamily="34" charset="-120"/>
              </a:rPr>
              <a:t>Notebook · Mentee Log · Leave Requests · Skill Verifications · Upskilling — and the signature, the account screen and any console screen the office granted.</a:t>
            </a:r>
            <a:endParaRPr lang="en-US" sz="1800" dirty="0"/>
          </a:p>
        </p:txBody>
      </p:sp>
      <p:sp>
        <p:nvSpPr>
          <p:cNvPr id="5" name="Text 2"/>
          <p:cNvSpPr txBox="1"/>
          <p:nvPr/>
        </p:nvSpPr>
        <p:spPr>
          <a:xfrm>
            <a:off x="777240" y="4343400"/>
            <a:ext cx="7498080" cy="201168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Signs in as mentor@bgscet.ac.in (Test Mentor), whose group holds Test Student</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Every mentee screen is scoped to that group: a faculty member with no group sees nobody, never the whole programme</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Logs a notebook entry, answers the student's meeting request, verifies the claim, applies for leave, files a certificate and a signature</a:t>
            </a:r>
            <a:endParaRPr lang="en-US" sz="1400" dirty="0"/>
          </a:p>
        </p:txBody>
      </p:sp>
      <p:sp>
        <p:nvSpPr>
          <p:cNvPr id="6" name="Shape 3"/>
          <p:cNvSpPr/>
          <p:nvPr/>
        </p:nvSpPr>
        <p:spPr>
          <a:xfrm>
            <a:off x="8549640" y="4434840"/>
            <a:ext cx="3017520" cy="1097280"/>
          </a:xfrm>
          <a:prstGeom prst="roundRect">
            <a:avLst>
              <a:gd name="adj" fmla="val 13333"/>
            </a:avLst>
          </a:prstGeom>
          <a:solidFill>
            <a:srgbClr val="FFFFFF"/>
          </a:solidFill>
          <a:ln w="12700">
            <a:solidFill>
              <a:srgbClr val="FFFFFF"/>
            </a:solidFill>
            <a:prstDash val="solid"/>
          </a:ln>
        </p:spPr>
      </p:sp>
      <p:pic>
        <p:nvPicPr>
          <p:cNvPr id="7" name="Image 1" descr="preencoded.png">    </p:cNvPr>
          <p:cNvPicPr>
            <a:picLocks noChangeAspect="1"/>
          </p:cNvPicPr>
          <p:nvPr/>
        </p:nvPicPr>
        <p:blipFill>
          <a:blip r:embed="rId3"/>
          <a:stretch>
            <a:fillRect/>
          </a:stretch>
        </p:blipFill>
        <p:spPr>
          <a:xfrm>
            <a:off x="8732520" y="4636008"/>
            <a:ext cx="457200" cy="457200"/>
          </a:xfrm>
          <a:prstGeom prst="rect">
            <a:avLst/>
          </a:prstGeom>
        </p:spPr>
      </p:pic>
      <p:sp>
        <p:nvSpPr>
          <p:cNvPr id="8" name="Text 4"/>
          <p:cNvSpPr txBox="1"/>
          <p:nvPr/>
        </p:nvSpPr>
        <p:spPr>
          <a:xfrm>
            <a:off x="9281160" y="4480560"/>
            <a:ext cx="2240280" cy="1005840"/>
          </a:xfrm>
          <a:prstGeom prst="rect">
            <a:avLst/>
          </a:prstGeom>
          <a:noFill/>
          <a:ln/>
        </p:spPr>
        <p:txBody>
          <a:bodyPr wrap="square" lIns="0" tIns="0" rIns="0" bIns="0" rtlCol="0" anchor="ctr"/>
          <a:lstStyle/>
          <a:p>
            <a:pPr indent="0" marL="0">
              <a:buNone/>
            </a:pPr>
            <a:r>
              <a:rPr lang="en-US" sz="1200" b="1" dirty="0">
                <a:solidFill>
                  <a:srgbClr val="1E1338"/>
                </a:solidFill>
                <a:latin typeface="Calibri" pitchFamily="34" charset="0"/>
                <a:ea typeface="Calibri" pitchFamily="34" charset="-122"/>
                <a:cs typeface="Calibri" pitchFamily="34" charset="-120"/>
              </a:rPr>
              <a:t>Video</a:t>
            </a:r>
            <a:endParaRPr lang="en-US" sz="1200" dirty="0"/>
          </a:p>
          <a:p>
            <a:pPr indent="0" marL="0">
              <a:buNone/>
            </a:pPr>
            <a:r>
              <a:rPr lang="en-US" sz="1200" dirty="0">
                <a:solidFill>
                  <a:srgbClr val="1E1338"/>
                </a:solidFill>
                <a:latin typeface="Calibri" pitchFamily="34" charset="0"/>
                <a:ea typeface="Calibri" pitchFamily="34" charset="-122"/>
                <a:cs typeface="Calibri" pitchFamily="34" charset="-120"/>
              </a:rPr>
              <a:t>faculty.mp4 · 2:05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Notebook and Mentee Log</a:t>
            </a:r>
            <a:endParaRPr lang="en-US" sz="3000" dirty="0"/>
          </a:p>
        </p:txBody>
      </p:sp>
      <p:sp>
        <p:nvSpPr>
          <p:cNvPr id="5" name="Shape 3"/>
          <p:cNvSpPr/>
          <p:nvPr/>
        </p:nvSpPr>
        <p:spPr>
          <a:xfrm>
            <a:off x="502920" y="1170432"/>
            <a:ext cx="1161288" cy="292608"/>
          </a:xfrm>
          <a:prstGeom prst="roundRect">
            <a:avLst>
              <a:gd name="adj" fmla="val 50000"/>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FACULTY</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The notebook is the faculty member's private log per student: date, what was discussed, the agreed action, a remark. The Mentee Log is the shared record: the student's meeting request is already on it, and the note written back — heading, linked action, text — is exactly what the student reads on their Faculty / TPO Log. A “Full record” link opens the student's complete file when the office has granted that read.</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Notebook — a private entry per mentee</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Mentee Log — the note the student will read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Skill Verifications — one decision writes both rows</a:t>
            </a:r>
            <a:endParaRPr lang="en-US" sz="3000" dirty="0"/>
          </a:p>
        </p:txBody>
      </p:sp>
      <p:sp>
        <p:nvSpPr>
          <p:cNvPr id="5" name="Shape 3"/>
          <p:cNvSpPr/>
          <p:nvPr/>
        </p:nvSpPr>
        <p:spPr>
          <a:xfrm>
            <a:off x="502920" y="1170432"/>
            <a:ext cx="1161288" cy="292608"/>
          </a:xfrm>
          <a:prstGeom prst="roundRect">
            <a:avLst>
              <a:gd name="adj" fmla="val 50000"/>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FACULTY</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The queue lists the claims from this group's students with the certificate attached. Verify mints the EARNED badge and marks the certificate VERIFIED in the student's Uploads in the same act. Request changes and Reject refuse without a note — the note is the whole of what the student is told, on screen and by mail.</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The claim, its certificate, and the three decisions</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Verified — the badge is lit on the student's board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Leave, Upskilling, Signature, Account</a:t>
            </a:r>
            <a:endParaRPr lang="en-US" sz="3000" dirty="0"/>
          </a:p>
        </p:txBody>
      </p:sp>
      <p:sp>
        <p:nvSpPr>
          <p:cNvPr id="5" name="Shape 3"/>
          <p:cNvSpPr/>
          <p:nvPr/>
        </p:nvSpPr>
        <p:spPr>
          <a:xfrm>
            <a:off x="502920" y="1170432"/>
            <a:ext cx="1161288" cy="292608"/>
          </a:xfrm>
          <a:prstGeom prst="roundRect">
            <a:avLst>
              <a:gd name="adj" fmla="val 50000"/>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FACULTY</a:t>
            </a:r>
            <a:endParaRPr lang="en-US" sz="900" dirty="0"/>
          </a:p>
        </p:txBody>
      </p:sp>
      <p:sp>
        <p:nvSpPr>
          <p:cNvPr id="8" name="Text 5"/>
          <p:cNvSpPr txBox="1"/>
          <p:nvPr/>
        </p:nvSpPr>
        <p:spPr>
          <a:xfrm>
            <a:off x="2926080" y="1133856"/>
            <a:ext cx="8686800" cy="365760"/>
          </a:xfrm>
          <a:prstGeom prst="rect">
            <a:avLst/>
          </a:prstGeom>
          <a:noFill/>
          <a:ln/>
        </p:spPr>
        <p:txBody>
          <a:bodyPr wrap="square" lIns="0" tIns="0" rIns="0" bIns="0" rtlCol="0" anchor="ctr"/>
          <a:lstStyle/>
          <a:p>
            <a:pPr indent="0" marL="0">
              <a:buNone/>
            </a:pPr>
            <a:r>
              <a:rPr lang="en-US" sz="1250" dirty="0">
                <a:solidFill>
                  <a:srgbClr val="2B2340"/>
                </a:solidFill>
                <a:latin typeface="Calibri" pitchFamily="34" charset="0"/>
                <a:ea typeface="Calibri" pitchFamily="34" charset="-122"/>
                <a:cs typeface="Calibri" pitchFamily="34" charset="-120"/>
              </a:rPr>
              <a:t>Leave is the college's own form filled on screen and signed to the Main Admin; Upskilling is the faculty member's own certificate shelf; the signature is drawn on every leave paper they sign; My account holds sign-in security and this device.</a:t>
            </a:r>
            <a:endParaRPr lang="en-US" sz="1250" dirty="0"/>
          </a:p>
        </p:txBody>
      </p:sp>
      <p:sp>
        <p:nvSpPr>
          <p:cNvPr id="9" name="Shape 6"/>
          <p:cNvSpPr/>
          <p:nvPr/>
        </p:nvSpPr>
        <p:spPr>
          <a:xfrm>
            <a:off x="50292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1627632"/>
            <a:ext cx="3474720" cy="1954530"/>
          </a:xfrm>
          <a:prstGeom prst="rect">
            <a:avLst/>
          </a:prstGeom>
        </p:spPr>
      </p:pic>
      <p:sp>
        <p:nvSpPr>
          <p:cNvPr id="11" name="Text 7"/>
          <p:cNvSpPr txBox="1"/>
          <p:nvPr/>
        </p:nvSpPr>
        <p:spPr>
          <a:xfrm>
            <a:off x="54864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Leave Requests — balances, cover and the form</a:t>
            </a:r>
            <a:endParaRPr lang="en-US" sz="1050" dirty="0"/>
          </a:p>
        </p:txBody>
      </p:sp>
      <p:sp>
        <p:nvSpPr>
          <p:cNvPr id="12" name="Shape 8"/>
          <p:cNvSpPr/>
          <p:nvPr/>
        </p:nvSpPr>
        <p:spPr>
          <a:xfrm>
            <a:off x="429768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4343400" y="1627632"/>
            <a:ext cx="3474720" cy="1954530"/>
          </a:xfrm>
          <a:prstGeom prst="rect">
            <a:avLst/>
          </a:prstGeom>
        </p:spPr>
      </p:pic>
      <p:sp>
        <p:nvSpPr>
          <p:cNvPr id="14" name="Text 9"/>
          <p:cNvSpPr txBox="1"/>
          <p:nvPr/>
        </p:nvSpPr>
        <p:spPr>
          <a:xfrm>
            <a:off x="434340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Signed &amp; submitted — awaiting the Main Admin</a:t>
            </a:r>
            <a:endParaRPr lang="en-US" sz="1050" dirty="0"/>
          </a:p>
        </p:txBody>
      </p:sp>
      <p:sp>
        <p:nvSpPr>
          <p:cNvPr id="15" name="Shape 10"/>
          <p:cNvSpPr/>
          <p:nvPr/>
        </p:nvSpPr>
        <p:spPr>
          <a:xfrm>
            <a:off x="809244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6" name="Image 3" descr="preencoded.png">    </p:cNvPr>
          <p:cNvPicPr>
            <a:picLocks noChangeAspect="1"/>
          </p:cNvPicPr>
          <p:nvPr/>
        </p:nvPicPr>
        <p:blipFill>
          <a:blip r:embed="rId4"/>
          <a:stretch>
            <a:fillRect/>
          </a:stretch>
        </p:blipFill>
        <p:spPr>
          <a:xfrm>
            <a:off x="8138160" y="1627632"/>
            <a:ext cx="3474720" cy="1954530"/>
          </a:xfrm>
          <a:prstGeom prst="rect">
            <a:avLst/>
          </a:prstGeom>
        </p:spPr>
      </p:pic>
      <p:sp>
        <p:nvSpPr>
          <p:cNvPr id="17" name="Text 11"/>
          <p:cNvSpPr txBox="1"/>
          <p:nvPr/>
        </p:nvSpPr>
        <p:spPr>
          <a:xfrm>
            <a:off x="813816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Upskilling — a record, not evidence</a:t>
            </a:r>
            <a:endParaRPr lang="en-US" sz="1050" dirty="0"/>
          </a:p>
        </p:txBody>
      </p:sp>
      <p:sp>
        <p:nvSpPr>
          <p:cNvPr id="18" name="Shape 12"/>
          <p:cNvSpPr/>
          <p:nvPr/>
        </p:nvSpPr>
        <p:spPr>
          <a:xfrm>
            <a:off x="50292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9" name="Image 4" descr="preencoded.png">    </p:cNvPr>
          <p:cNvPicPr>
            <a:picLocks noChangeAspect="1"/>
          </p:cNvPicPr>
          <p:nvPr/>
        </p:nvPicPr>
        <p:blipFill>
          <a:blip r:embed="rId5"/>
          <a:stretch>
            <a:fillRect/>
          </a:stretch>
        </p:blipFill>
        <p:spPr>
          <a:xfrm>
            <a:off x="548640" y="4039362"/>
            <a:ext cx="3474720" cy="1954530"/>
          </a:xfrm>
          <a:prstGeom prst="rect">
            <a:avLst/>
          </a:prstGeom>
        </p:spPr>
      </p:pic>
      <p:sp>
        <p:nvSpPr>
          <p:cNvPr id="20" name="Text 13"/>
          <p:cNvSpPr txBox="1"/>
          <p:nvPr/>
        </p:nvSpPr>
        <p:spPr>
          <a:xfrm>
            <a:off x="54864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Signature — normalised on upload</a:t>
            </a:r>
            <a:endParaRPr lang="en-US" sz="1050" dirty="0"/>
          </a:p>
        </p:txBody>
      </p:sp>
      <p:sp>
        <p:nvSpPr>
          <p:cNvPr id="21" name="Shape 14"/>
          <p:cNvSpPr/>
          <p:nvPr/>
        </p:nvSpPr>
        <p:spPr>
          <a:xfrm>
            <a:off x="429768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2" name="Image 5" descr="preencoded.png">    </p:cNvPr>
          <p:cNvPicPr>
            <a:picLocks noChangeAspect="1"/>
          </p:cNvPicPr>
          <p:nvPr/>
        </p:nvPicPr>
        <p:blipFill>
          <a:blip r:embed="rId6"/>
          <a:stretch>
            <a:fillRect/>
          </a:stretch>
        </p:blipFill>
        <p:spPr>
          <a:xfrm>
            <a:off x="4343400" y="4039362"/>
            <a:ext cx="3474720" cy="1954530"/>
          </a:xfrm>
          <a:prstGeom prst="rect">
            <a:avLst/>
          </a:prstGeom>
        </p:spPr>
      </p:pic>
      <p:sp>
        <p:nvSpPr>
          <p:cNvPr id="23" name="Text 15"/>
          <p:cNvSpPr txBox="1"/>
          <p:nvPr/>
        </p:nvSpPr>
        <p:spPr>
          <a:xfrm>
            <a:off x="434340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My account — security, this device, digests</a:t>
            </a:r>
            <a:endParaRPr lang="en-US" sz="1050" dirty="0"/>
          </a:p>
        </p:txBody>
      </p:sp>
      <p:sp>
        <p:nvSpPr>
          <p:cNvPr id="24" name="Shape 16"/>
          <p:cNvSpPr/>
          <p:nvPr/>
        </p:nvSpPr>
        <p:spPr>
          <a:xfrm>
            <a:off x="809244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5" name="Image 6" descr="preencoded.png">    </p:cNvPr>
          <p:cNvPicPr>
            <a:picLocks noChangeAspect="1"/>
          </p:cNvPicPr>
          <p:nvPr/>
        </p:nvPicPr>
        <p:blipFill>
          <a:blip r:embed="rId7"/>
          <a:stretch>
            <a:fillRect/>
          </a:stretch>
        </p:blipFill>
        <p:spPr>
          <a:xfrm>
            <a:off x="8138160" y="4039362"/>
            <a:ext cx="3474720" cy="1954530"/>
          </a:xfrm>
          <a:prstGeom prst="rect">
            <a:avLst/>
          </a:prstGeom>
        </p:spPr>
      </p:pic>
      <p:sp>
        <p:nvSpPr>
          <p:cNvPr id="26" name="Text 17"/>
          <p:cNvSpPr txBox="1"/>
          <p:nvPr/>
        </p:nvSpPr>
        <p:spPr>
          <a:xfrm>
            <a:off x="813816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Mentee Log — the student's request waiting</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77240" y="822960"/>
            <a:ext cx="822960" cy="822960"/>
          </a:xfrm>
          <a:prstGeom prst="rect">
            <a:avLst/>
          </a:prstGeom>
        </p:spPr>
      </p:pic>
      <p:sp>
        <p:nvSpPr>
          <p:cNvPr id="3" name="Text 0"/>
          <p:cNvSpPr txBox="1"/>
          <p:nvPr/>
        </p:nvSpPr>
        <p:spPr>
          <a:xfrm>
            <a:off x="731520" y="1737360"/>
            <a:ext cx="10515600" cy="1188720"/>
          </a:xfrm>
          <a:prstGeom prst="rect">
            <a:avLst/>
          </a:prstGeom>
          <a:noFill/>
          <a:ln/>
        </p:spPr>
        <p:txBody>
          <a:bodyPr wrap="square" lIns="0" tIns="0" rIns="0" bIns="0" rtlCol="0" anchor="b"/>
          <a:lstStyle/>
          <a:p>
            <a:pPr indent="0" marL="0">
              <a:buNone/>
            </a:pPr>
            <a:r>
              <a:rPr lang="en-US" sz="4600" b="1" dirty="0">
                <a:solidFill>
                  <a:srgbClr val="FFFFFF"/>
                </a:solidFill>
                <a:latin typeface="Calibri" pitchFamily="34" charset="0"/>
                <a:ea typeface="Calibri" pitchFamily="34" charset="-122"/>
                <a:cs typeface="Calibri" pitchFamily="34" charset="-120"/>
              </a:rPr>
              <a:t>Main Admin console</a:t>
            </a:r>
            <a:endParaRPr lang="en-US" sz="4600" dirty="0"/>
          </a:p>
        </p:txBody>
      </p:sp>
      <p:sp>
        <p:nvSpPr>
          <p:cNvPr id="4" name="Text 1"/>
          <p:cNvSpPr txBox="1"/>
          <p:nvPr/>
        </p:nvSpPr>
        <p:spPr>
          <a:xfrm>
            <a:off x="731520" y="3017520"/>
            <a:ext cx="10241280" cy="1188720"/>
          </a:xfrm>
          <a:prstGeom prst="rect">
            <a:avLst/>
          </a:prstGeom>
          <a:noFill/>
          <a:ln/>
        </p:spPr>
        <p:txBody>
          <a:bodyPr wrap="square" lIns="0" tIns="0" rIns="0" bIns="0" rtlCol="0" anchor="t"/>
          <a:lstStyle/>
          <a:p>
            <a:pPr indent="0" marL="0">
              <a:buNone/>
            </a:pPr>
            <a:r>
              <a:rPr lang="en-US" sz="1800" dirty="0">
                <a:solidFill>
                  <a:srgbClr val="F3E8FF"/>
                </a:solidFill>
                <a:latin typeface="Calibri" pitchFamily="34" charset="0"/>
                <a:ea typeface="Calibri" pitchFamily="34" charset="-122"/>
                <a:cs typeface="Calibri" pitchFamily="34" charset="-120"/>
              </a:rPr>
              <a:t>People · Every day · Interviews · College setup · Settings — the placement office's one account, landing on a list of tasks in plain words.</a:t>
            </a:r>
            <a:endParaRPr lang="en-US" sz="1800" dirty="0"/>
          </a:p>
        </p:txBody>
      </p:sp>
      <p:sp>
        <p:nvSpPr>
          <p:cNvPr id="5" name="Text 2"/>
          <p:cNvSpPr txBox="1"/>
          <p:nvPr/>
        </p:nvSpPr>
        <p:spPr>
          <a:xfrm>
            <a:off x="777240" y="4343400"/>
            <a:ext cx="7498080" cy="201168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Signs in through the Main Admin door as admin@bgscet.ac.in</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Approves an application, opens a student's 360, seats a student under a faculty member, sanctions leave, publishes a job, writes a SWOC line, grants a screen to a faculty member</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Nothing on the console explains itself: a label that needs decoding gets changed, not a tooltip</a:t>
            </a:r>
            <a:endParaRPr lang="en-US" sz="1400" dirty="0"/>
          </a:p>
        </p:txBody>
      </p:sp>
      <p:sp>
        <p:nvSpPr>
          <p:cNvPr id="6" name="Shape 3"/>
          <p:cNvSpPr/>
          <p:nvPr/>
        </p:nvSpPr>
        <p:spPr>
          <a:xfrm>
            <a:off x="8549640" y="4434840"/>
            <a:ext cx="3017520" cy="1097280"/>
          </a:xfrm>
          <a:prstGeom prst="roundRect">
            <a:avLst>
              <a:gd name="adj" fmla="val 13333"/>
            </a:avLst>
          </a:prstGeom>
          <a:solidFill>
            <a:srgbClr val="FFFFFF"/>
          </a:solidFill>
          <a:ln w="12700">
            <a:solidFill>
              <a:srgbClr val="FFFFFF"/>
            </a:solidFill>
            <a:prstDash val="solid"/>
          </a:ln>
        </p:spPr>
      </p:sp>
      <p:pic>
        <p:nvPicPr>
          <p:cNvPr id="7" name="Image 1" descr="preencoded.png">    </p:cNvPr>
          <p:cNvPicPr>
            <a:picLocks noChangeAspect="1"/>
          </p:cNvPicPr>
          <p:nvPr/>
        </p:nvPicPr>
        <p:blipFill>
          <a:blip r:embed="rId3"/>
          <a:stretch>
            <a:fillRect/>
          </a:stretch>
        </p:blipFill>
        <p:spPr>
          <a:xfrm>
            <a:off x="8732520" y="4636008"/>
            <a:ext cx="457200" cy="457200"/>
          </a:xfrm>
          <a:prstGeom prst="rect">
            <a:avLst/>
          </a:prstGeom>
        </p:spPr>
      </p:pic>
      <p:sp>
        <p:nvSpPr>
          <p:cNvPr id="8" name="Text 4"/>
          <p:cNvSpPr txBox="1"/>
          <p:nvPr/>
        </p:nvSpPr>
        <p:spPr>
          <a:xfrm>
            <a:off x="9281160" y="4480560"/>
            <a:ext cx="2240280" cy="1005840"/>
          </a:xfrm>
          <a:prstGeom prst="rect">
            <a:avLst/>
          </a:prstGeom>
          <a:noFill/>
          <a:ln/>
        </p:spPr>
        <p:txBody>
          <a:bodyPr wrap="square" lIns="0" tIns="0" rIns="0" bIns="0" rtlCol="0" anchor="ctr"/>
          <a:lstStyle/>
          <a:p>
            <a:pPr indent="0" marL="0">
              <a:buNone/>
            </a:pPr>
            <a:r>
              <a:rPr lang="en-US" sz="1200" b="1" dirty="0">
                <a:solidFill>
                  <a:srgbClr val="1E1338"/>
                </a:solidFill>
                <a:latin typeface="Calibri" pitchFamily="34" charset="0"/>
                <a:ea typeface="Calibri" pitchFamily="34" charset="-122"/>
                <a:cs typeface="Calibri" pitchFamily="34" charset="-120"/>
              </a:rPr>
              <a:t>Video</a:t>
            </a:r>
            <a:endParaRPr lang="en-US" sz="1200" dirty="0"/>
          </a:p>
          <a:p>
            <a:pPr indent="0" marL="0">
              <a:buNone/>
            </a:pPr>
            <a:r>
              <a:rPr lang="en-US" sz="1200" dirty="0">
                <a:solidFill>
                  <a:srgbClr val="1E1338"/>
                </a:solidFill>
                <a:latin typeface="Calibri" pitchFamily="34" charset="0"/>
                <a:ea typeface="Calibri" pitchFamily="34" charset="-122"/>
                <a:cs typeface="Calibri" pitchFamily="34" charset="-120"/>
              </a:rPr>
              <a:t>admin.mp4 · 3:24</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Home — what is waiting, and every task as a button</a:t>
            </a:r>
            <a:endParaRPr lang="en-US" sz="3000" dirty="0"/>
          </a:p>
        </p:txBody>
      </p:sp>
      <p:sp>
        <p:nvSpPr>
          <p:cNvPr id="5" name="Shape 3"/>
          <p:cNvSpPr/>
          <p:nvPr/>
        </p:nvSpPr>
        <p:spPr>
          <a:xfrm>
            <a:off x="502920" y="1170432"/>
            <a:ext cx="1463040" cy="292608"/>
          </a:xfrm>
          <a:prstGeom prst="roundRect">
            <a:avLst>
              <a:gd name="adj" fmla="val 50000"/>
            </a:avLst>
          </a:prstGeom>
          <a:solidFill>
            <a:srgbClr val="DB2777"/>
          </a:solidFill>
          <a:ln w="12700">
            <a:solidFill>
              <a:srgbClr val="DB2777"/>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188720"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MAIN ADMIN</a:t>
            </a:r>
            <a:endParaRPr lang="en-US" sz="900" dirty="0"/>
          </a:p>
        </p:txBody>
      </p:sp>
      <p:sp>
        <p:nvSpPr>
          <p:cNvPr id="8" name="Text 5"/>
          <p:cNvSpPr txBox="1"/>
          <p:nvPr/>
        </p:nvSpPr>
        <p:spPr>
          <a:xfrm>
            <a:off x="502920" y="1645920"/>
            <a:ext cx="3520440" cy="420624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Five live counts, each a button to its queue: applications to review, leave to sanction, students without a faculty member, offers, access reviews.</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Every screen as a task — “Approve new students”, “Post a job”, “Assign faculty” — grouped as People, Every day, Interviews, College setup, Settings.</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Charts &amp; numbers moved one row down: the right first screen for someone who knows the console, the wrong one for someone who does not.</a:t>
            </a:r>
            <a:endParaRPr lang="en-US" sz="1300" dirty="0"/>
          </a:p>
        </p:txBody>
      </p:sp>
      <p:sp>
        <p:nvSpPr>
          <p:cNvPr id="9" name="Shape 6"/>
          <p:cNvSpPr/>
          <p:nvPr/>
        </p:nvSpPr>
        <p:spPr>
          <a:xfrm>
            <a:off x="4297680" y="1188720"/>
            <a:ext cx="7452360" cy="4231958"/>
          </a:xfrm>
          <a:prstGeom prst="roundRect">
            <a:avLst>
              <a:gd name="adj" fmla="val 3457"/>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4343400" y="1234440"/>
            <a:ext cx="7360920" cy="414051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New applications — approve, hold, reject</a:t>
            </a:r>
            <a:endParaRPr lang="en-US" sz="3000" dirty="0"/>
          </a:p>
        </p:txBody>
      </p:sp>
      <p:sp>
        <p:nvSpPr>
          <p:cNvPr id="5" name="Shape 3"/>
          <p:cNvSpPr/>
          <p:nvPr/>
        </p:nvSpPr>
        <p:spPr>
          <a:xfrm>
            <a:off x="502920" y="1170432"/>
            <a:ext cx="1463040" cy="292608"/>
          </a:xfrm>
          <a:prstGeom prst="roundRect">
            <a:avLst>
              <a:gd name="adj" fmla="val 50000"/>
            </a:avLst>
          </a:prstGeom>
          <a:solidFill>
            <a:srgbClr val="DB2777"/>
          </a:solidFill>
          <a:ln w="12700">
            <a:solidFill>
              <a:srgbClr val="DB2777"/>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188720"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MAIN ADMIN</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Applications land in this queue the moment they are submitted; rules route them and a checklist warns about a missing CV, an off-domain address or a prior application. Approve provisions the account and emails the three-step setup link. Reject requires a reason and emails it, because a rejected applicant is not a user and that mail is the only channel. Hold keeps it with a note.</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The queue, the checklist and the decision panel</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Approved — the account exists and the setup link is in the mail</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Students &amp; batches, and the Student 360</a:t>
            </a:r>
            <a:endParaRPr lang="en-US" sz="3000" dirty="0"/>
          </a:p>
        </p:txBody>
      </p:sp>
      <p:sp>
        <p:nvSpPr>
          <p:cNvPr id="5" name="Shape 3"/>
          <p:cNvSpPr/>
          <p:nvPr/>
        </p:nvSpPr>
        <p:spPr>
          <a:xfrm>
            <a:off x="502920" y="1170432"/>
            <a:ext cx="1463040" cy="292608"/>
          </a:xfrm>
          <a:prstGeom prst="roundRect">
            <a:avLst>
              <a:gd name="adj" fmla="val 50000"/>
            </a:avLst>
          </a:prstGeom>
          <a:solidFill>
            <a:srgbClr val="DB2777"/>
          </a:solidFill>
          <a:ln w="12700">
            <a:solidFill>
              <a:srgbClr val="DB2777"/>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188720"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MAIN ADMIN</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The roster: edit a student (name, USN, batch, faculty, stage, semester), act on a whole batch with one action repeated — move, assign faculty, set stage or semester — remove-and-restore, or delete for good behind an emailed code. The eye opens the 360: one student across every semester — profile, results, attendance, documents, mentor history, interviews.</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Students &amp; batches — the roster grid</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Student 360 — the complete record</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Faculty and Assign faculty</a:t>
            </a:r>
            <a:endParaRPr lang="en-US" sz="3000" dirty="0"/>
          </a:p>
        </p:txBody>
      </p:sp>
      <p:sp>
        <p:nvSpPr>
          <p:cNvPr id="5" name="Shape 3"/>
          <p:cNvSpPr/>
          <p:nvPr/>
        </p:nvSpPr>
        <p:spPr>
          <a:xfrm>
            <a:off x="502920" y="1170432"/>
            <a:ext cx="1463040" cy="292608"/>
          </a:xfrm>
          <a:prstGeom prst="roundRect">
            <a:avLst>
              <a:gd name="adj" fmla="val 50000"/>
            </a:avLst>
          </a:prstGeom>
          <a:solidFill>
            <a:srgbClr val="DB2777"/>
          </a:solidFill>
          <a:ln w="12700">
            <a:solidFill>
              <a:srgbClr val="DB2777"/>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188720"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MAIN ADMIN</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Faculty lists every account with its group size and functions; “Add faculty member” mints the account and shows the activation link to hand over. Assign faculty is where a faculty account becomes a mentor: pick the mentor, tick students in the unassigned pool, write the reason. The group is what scopes every mentee screen, and the history of who mentored whom is kept beside the pointer.</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Faculty — accounts, groups, activation links</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Assign faculty — a student seated, with a reason</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21</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Leave requests and Job postings</a:t>
            </a:r>
            <a:endParaRPr lang="en-US" sz="3000" dirty="0"/>
          </a:p>
        </p:txBody>
      </p:sp>
      <p:sp>
        <p:nvSpPr>
          <p:cNvPr id="5" name="Shape 3"/>
          <p:cNvSpPr/>
          <p:nvPr/>
        </p:nvSpPr>
        <p:spPr>
          <a:xfrm>
            <a:off x="502920" y="1170432"/>
            <a:ext cx="1463040" cy="292608"/>
          </a:xfrm>
          <a:prstGeom prst="roundRect">
            <a:avLst>
              <a:gd name="adj" fmla="val 50000"/>
            </a:avLst>
          </a:prstGeom>
          <a:solidFill>
            <a:srgbClr val="DB2777"/>
          </a:solidFill>
          <a:ln w="12700">
            <a:solidFill>
              <a:srgbClr val="DB2777"/>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188720"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MAIN ADMIN</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Leave is one signature, the Main Admin's: select the request, Sanction with remarks, and the college-form PDF carries both signatures. Job postings is the jobs sheet: a published posting reaches every eligible student's Jobs screen with a match % computed from their own record; the alumni feed gets it without the verdict.</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Leave requests — sanctioned with remarks</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Job postings — published to every eligible student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Interviews and SWOC notes</a:t>
            </a:r>
            <a:endParaRPr lang="en-US" sz="3000" dirty="0"/>
          </a:p>
        </p:txBody>
      </p:sp>
      <p:sp>
        <p:nvSpPr>
          <p:cNvPr id="5" name="Shape 3"/>
          <p:cNvSpPr/>
          <p:nvPr/>
        </p:nvSpPr>
        <p:spPr>
          <a:xfrm>
            <a:off x="502920" y="1170432"/>
            <a:ext cx="1463040" cy="292608"/>
          </a:xfrm>
          <a:prstGeom prst="roundRect">
            <a:avLst>
              <a:gd name="adj" fmla="val 50000"/>
            </a:avLst>
          </a:prstGeom>
          <a:solidFill>
            <a:srgbClr val="DB2777"/>
          </a:solidFill>
          <a:ln w="12700">
            <a:solidFill>
              <a:srgbClr val="DB2777"/>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188720"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MAIN ADMIN</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Interview questions is the bank per track — guidance the free-style interviewer rephrases. Interview records lists every mock interview with the student named: transcript, report, score over time, and the college's storage policy (transcript, audio, retention, caps). SWOC notes are the four lines on each student's Home, with author, semester and whether the student has read them.</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Interview records — and the policy card</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SWOC notes — a line the student sees at once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College setup — the institutional spine</a:t>
            </a:r>
            <a:endParaRPr lang="en-US" sz="3000" dirty="0"/>
          </a:p>
        </p:txBody>
      </p:sp>
      <p:sp>
        <p:nvSpPr>
          <p:cNvPr id="5" name="Shape 3"/>
          <p:cNvSpPr/>
          <p:nvPr/>
        </p:nvSpPr>
        <p:spPr>
          <a:xfrm>
            <a:off x="502920" y="1170432"/>
            <a:ext cx="1463040" cy="292608"/>
          </a:xfrm>
          <a:prstGeom prst="roundRect">
            <a:avLst>
              <a:gd name="adj" fmla="val 50000"/>
            </a:avLst>
          </a:prstGeom>
          <a:solidFill>
            <a:srgbClr val="DB2777"/>
          </a:solidFill>
          <a:ln w="12700">
            <a:solidFill>
              <a:srgbClr val="DB2777"/>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188720"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MAIN ADMIN</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College → Department → Course → Specialization → Batch → student. “Set up a college” is the spine typed once and created in one press; College structure sees and changes what exists (courses, batches, seating, the mock-interview track mapping, email domains); Colleges lists; Catalogue holds courses and the approved certifications. Course and Specialization are optional and a batch is a year — the links are the spine.</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Set up a college — six steps, one press</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College structure — see and change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Access, the audit trail and the numbers</a:t>
            </a:r>
            <a:endParaRPr lang="en-US" sz="3000" dirty="0"/>
          </a:p>
        </p:txBody>
      </p:sp>
      <p:sp>
        <p:nvSpPr>
          <p:cNvPr id="5" name="Shape 3"/>
          <p:cNvSpPr/>
          <p:nvPr/>
        </p:nvSpPr>
        <p:spPr>
          <a:xfrm>
            <a:off x="502920" y="1170432"/>
            <a:ext cx="1463040" cy="292608"/>
          </a:xfrm>
          <a:prstGeom prst="roundRect">
            <a:avLst>
              <a:gd name="adj" fmla="val 50000"/>
            </a:avLst>
          </a:prstGeom>
          <a:solidFill>
            <a:srgbClr val="DB2777"/>
          </a:solidFill>
          <a:ln w="12700">
            <a:solidFill>
              <a:srgbClr val="DB2777"/>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188720"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MAIN ADMIN</a:t>
            </a:r>
            <a:endParaRPr lang="en-US" sz="900" dirty="0"/>
          </a:p>
        </p:txBody>
      </p:sp>
      <p:sp>
        <p:nvSpPr>
          <p:cNvPr id="8" name="Text 5"/>
          <p:cNvSpPr txBox="1"/>
          <p:nvPr/>
        </p:nvSpPr>
        <p:spPr>
          <a:xfrm>
            <a:off x="2926080" y="1133856"/>
            <a:ext cx="8686800" cy="365760"/>
          </a:xfrm>
          <a:prstGeom prst="rect">
            <a:avLst/>
          </a:prstGeom>
          <a:noFill/>
          <a:ln/>
        </p:spPr>
        <p:txBody>
          <a:bodyPr wrap="square" lIns="0" tIns="0" rIns="0" bIns="0" rtlCol="0" anchor="ctr"/>
          <a:lstStyle/>
          <a:p>
            <a:pPr indent="0" marL="0">
              <a:buNone/>
            </a:pPr>
            <a:r>
              <a:rPr lang="en-US" sz="1250" dirty="0">
                <a:solidFill>
                  <a:srgbClr val="2B2340"/>
                </a:solidFill>
                <a:latin typeface="Calibri" pitchFamily="34" charset="0"/>
                <a:ea typeface="Calibri" pitchFamily="34" charset="-122"/>
                <a:cs typeface="Calibri" pitchFamily="34" charset="-120"/>
              </a:rPr>
              <a:t>Access is a decision with a reach, a reason and an expiry; the audit trail records every write; analytics aggregate on the server.</a:t>
            </a:r>
            <a:endParaRPr lang="en-US" sz="1250" dirty="0"/>
          </a:p>
        </p:txBody>
      </p:sp>
      <p:sp>
        <p:nvSpPr>
          <p:cNvPr id="9" name="Shape 6"/>
          <p:cNvSpPr/>
          <p:nvPr/>
        </p:nvSpPr>
        <p:spPr>
          <a:xfrm>
            <a:off x="50292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1627632"/>
            <a:ext cx="3474720" cy="1954530"/>
          </a:xfrm>
          <a:prstGeom prst="rect">
            <a:avLst/>
          </a:prstGeom>
        </p:spPr>
      </p:pic>
      <p:sp>
        <p:nvSpPr>
          <p:cNvPr id="11" name="Text 7"/>
          <p:cNvSpPr txBox="1"/>
          <p:nvPr/>
        </p:nvSpPr>
        <p:spPr>
          <a:xfrm>
            <a:off x="54864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Who can do what — a screen granted to a faculty member</a:t>
            </a:r>
            <a:endParaRPr lang="en-US" sz="1050" dirty="0"/>
          </a:p>
        </p:txBody>
      </p:sp>
      <p:sp>
        <p:nvSpPr>
          <p:cNvPr id="12" name="Shape 8"/>
          <p:cNvSpPr/>
          <p:nvPr/>
        </p:nvSpPr>
        <p:spPr>
          <a:xfrm>
            <a:off x="429768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4343400" y="1627632"/>
            <a:ext cx="3474720" cy="1954530"/>
          </a:xfrm>
          <a:prstGeom prst="rect">
            <a:avLst/>
          </a:prstGeom>
        </p:spPr>
      </p:pic>
      <p:sp>
        <p:nvSpPr>
          <p:cNvPr id="14" name="Text 9"/>
          <p:cNvSpPr txBox="1"/>
          <p:nvPr/>
        </p:nvSpPr>
        <p:spPr>
          <a:xfrm>
            <a:off x="434340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What changed — the audit trail</a:t>
            </a:r>
            <a:endParaRPr lang="en-US" sz="1050" dirty="0"/>
          </a:p>
        </p:txBody>
      </p:sp>
      <p:sp>
        <p:nvSpPr>
          <p:cNvPr id="15" name="Shape 10"/>
          <p:cNvSpPr/>
          <p:nvPr/>
        </p:nvSpPr>
        <p:spPr>
          <a:xfrm>
            <a:off x="809244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6" name="Image 3" descr="preencoded.png">    </p:cNvPr>
          <p:cNvPicPr>
            <a:picLocks noChangeAspect="1"/>
          </p:cNvPicPr>
          <p:nvPr/>
        </p:nvPicPr>
        <p:blipFill>
          <a:blip r:embed="rId4"/>
          <a:stretch>
            <a:fillRect/>
          </a:stretch>
        </p:blipFill>
        <p:spPr>
          <a:xfrm>
            <a:off x="8138160" y="1627632"/>
            <a:ext cx="3474720" cy="1954530"/>
          </a:xfrm>
          <a:prstGeom prst="rect">
            <a:avLst/>
          </a:prstGeom>
        </p:spPr>
      </p:pic>
      <p:sp>
        <p:nvSpPr>
          <p:cNvPr id="17" name="Text 11"/>
          <p:cNvSpPr txBox="1"/>
          <p:nvPr/>
        </p:nvSpPr>
        <p:spPr>
          <a:xfrm>
            <a:off x="813816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Charts &amp; numbers</a:t>
            </a:r>
            <a:endParaRPr lang="en-US" sz="1050" dirty="0"/>
          </a:p>
        </p:txBody>
      </p:sp>
      <p:sp>
        <p:nvSpPr>
          <p:cNvPr id="18" name="Shape 12"/>
          <p:cNvSpPr/>
          <p:nvPr/>
        </p:nvSpPr>
        <p:spPr>
          <a:xfrm>
            <a:off x="50292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9" name="Image 4" descr="preencoded.png">    </p:cNvPr>
          <p:cNvPicPr>
            <a:picLocks noChangeAspect="1"/>
          </p:cNvPicPr>
          <p:nvPr/>
        </p:nvPicPr>
        <p:blipFill>
          <a:blip r:embed="rId5"/>
          <a:stretch>
            <a:fillRect/>
          </a:stretch>
        </p:blipFill>
        <p:spPr>
          <a:xfrm>
            <a:off x="548640" y="4039362"/>
            <a:ext cx="3474720" cy="1954530"/>
          </a:xfrm>
          <a:prstGeom prst="rect">
            <a:avLst/>
          </a:prstGeom>
        </p:spPr>
      </p:pic>
      <p:sp>
        <p:nvSpPr>
          <p:cNvPr id="20" name="Text 13"/>
          <p:cNvSpPr txBox="1"/>
          <p:nvPr/>
        </p:nvSpPr>
        <p:spPr>
          <a:xfrm>
            <a:off x="54864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Placement &amp; offers</a:t>
            </a:r>
            <a:endParaRPr lang="en-US" sz="1050" dirty="0"/>
          </a:p>
        </p:txBody>
      </p:sp>
      <p:sp>
        <p:nvSpPr>
          <p:cNvPr id="21" name="Shape 14"/>
          <p:cNvSpPr/>
          <p:nvPr/>
        </p:nvSpPr>
        <p:spPr>
          <a:xfrm>
            <a:off x="429768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2" name="Image 5" descr="preencoded.png">    </p:cNvPr>
          <p:cNvPicPr>
            <a:picLocks noChangeAspect="1"/>
          </p:cNvPicPr>
          <p:nvPr/>
        </p:nvPicPr>
        <p:blipFill>
          <a:blip r:embed="rId6"/>
          <a:stretch>
            <a:fillRect/>
          </a:stretch>
        </p:blipFill>
        <p:spPr>
          <a:xfrm>
            <a:off x="4343400" y="4039362"/>
            <a:ext cx="3474720" cy="1954530"/>
          </a:xfrm>
          <a:prstGeom prst="rect">
            <a:avLst/>
          </a:prstGeom>
        </p:spPr>
      </p:pic>
      <p:sp>
        <p:nvSpPr>
          <p:cNvPr id="23" name="Text 15"/>
          <p:cNvSpPr txBox="1"/>
          <p:nvPr/>
        </p:nvSpPr>
        <p:spPr>
          <a:xfrm>
            <a:off x="434340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Download reports — every download leaves a receipt</a:t>
            </a:r>
            <a:endParaRPr lang="en-US" sz="1050" dirty="0"/>
          </a:p>
        </p:txBody>
      </p:sp>
      <p:sp>
        <p:nvSpPr>
          <p:cNvPr id="24" name="Shape 16"/>
          <p:cNvSpPr/>
          <p:nvPr/>
        </p:nvSpPr>
        <p:spPr>
          <a:xfrm>
            <a:off x="809244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5" name="Image 6" descr="preencoded.png">    </p:cNvPr>
          <p:cNvPicPr>
            <a:picLocks noChangeAspect="1"/>
          </p:cNvPicPr>
          <p:nvPr/>
        </p:nvPicPr>
        <p:blipFill>
          <a:blip r:embed="rId7"/>
          <a:stretch>
            <a:fillRect/>
          </a:stretch>
        </p:blipFill>
        <p:spPr>
          <a:xfrm>
            <a:off x="8138160" y="4039362"/>
            <a:ext cx="3474720" cy="1954530"/>
          </a:xfrm>
          <a:prstGeom prst="rect">
            <a:avLst/>
          </a:prstGeom>
        </p:spPr>
      </p:pic>
      <p:sp>
        <p:nvSpPr>
          <p:cNvPr id="26" name="Text 17"/>
          <p:cNvSpPr txBox="1"/>
          <p:nvPr/>
        </p:nvSpPr>
        <p:spPr>
          <a:xfrm>
            <a:off x="813816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Upload spreadsheets — attendance and marks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77240" y="822960"/>
            <a:ext cx="822960" cy="822960"/>
          </a:xfrm>
          <a:prstGeom prst="rect">
            <a:avLst/>
          </a:prstGeom>
        </p:spPr>
      </p:pic>
      <p:sp>
        <p:nvSpPr>
          <p:cNvPr id="3" name="Text 0"/>
          <p:cNvSpPr txBox="1"/>
          <p:nvPr/>
        </p:nvSpPr>
        <p:spPr>
          <a:xfrm>
            <a:off x="731520" y="1737360"/>
            <a:ext cx="10515600" cy="1188720"/>
          </a:xfrm>
          <a:prstGeom prst="rect">
            <a:avLst/>
          </a:prstGeom>
          <a:noFill/>
          <a:ln/>
        </p:spPr>
        <p:txBody>
          <a:bodyPr wrap="square" lIns="0" tIns="0" rIns="0" bIns="0" rtlCol="0" anchor="b"/>
          <a:lstStyle/>
          <a:p>
            <a:pPr indent="0" marL="0">
              <a:buNone/>
            </a:pPr>
            <a:r>
              <a:rPr lang="en-US" sz="4600" b="1" dirty="0">
                <a:solidFill>
                  <a:srgbClr val="FFFFFF"/>
                </a:solidFill>
                <a:latin typeface="Calibri" pitchFamily="34" charset="0"/>
                <a:ea typeface="Calibri" pitchFamily="34" charset="-122"/>
                <a:cs typeface="Calibri" pitchFamily="34" charset="-120"/>
              </a:rPr>
              <a:t>One workflow, three portals</a:t>
            </a:r>
            <a:endParaRPr lang="en-US" sz="4600" dirty="0"/>
          </a:p>
        </p:txBody>
      </p:sp>
      <p:sp>
        <p:nvSpPr>
          <p:cNvPr id="4" name="Text 1"/>
          <p:cNvSpPr txBox="1"/>
          <p:nvPr/>
        </p:nvSpPr>
        <p:spPr>
          <a:xfrm>
            <a:off x="731520" y="3017520"/>
            <a:ext cx="10241280" cy="1188720"/>
          </a:xfrm>
          <a:prstGeom prst="rect">
            <a:avLst/>
          </a:prstGeom>
          <a:noFill/>
          <a:ln/>
        </p:spPr>
        <p:txBody>
          <a:bodyPr wrap="square" lIns="0" tIns="0" rIns="0" bIns="0" rtlCol="0" anchor="t"/>
          <a:lstStyle/>
          <a:p>
            <a:pPr indent="0" marL="0">
              <a:buNone/>
            </a:pPr>
            <a:r>
              <a:rPr lang="en-US" sz="1800" dirty="0">
                <a:solidFill>
                  <a:srgbClr val="F3E8FF"/>
                </a:solidFill>
                <a:latin typeface="Calibri" pitchFamily="34" charset="0"/>
                <a:ea typeface="Calibri" pitchFamily="34" charset="-122"/>
                <a:cs typeface="Calibri" pitchFamily="34" charset="-120"/>
              </a:rPr>
              <a:t>What the student does, what the mentor and the office do about it, and where every action lands back on the student's screens.</a:t>
            </a:r>
            <a:endParaRPr lang="en-US" sz="1800" dirty="0"/>
          </a:p>
        </p:txBody>
      </p:sp>
      <p:sp>
        <p:nvSpPr>
          <p:cNvPr id="5" name="Text 2"/>
          <p:cNvSpPr txBox="1"/>
          <p:nvPr/>
        </p:nvSpPr>
        <p:spPr>
          <a:xfrm>
            <a:off x="777240" y="4343400"/>
            <a:ext cx="7498080" cy="201168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1 · Student claims a skill and asks for a 1:1</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2 · Mentor verifies the claim, records the meeting, applies for leave</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3 · Main Admin writes a SWOC line, publishes a job, sanctions the leave</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4 · Student: the SWOC line on Home, the lit badge, the mentor's note, the new job with a match %</a:t>
            </a:r>
            <a:endParaRPr lang="en-US" sz="1400" dirty="0"/>
          </a:p>
        </p:txBody>
      </p:sp>
      <p:sp>
        <p:nvSpPr>
          <p:cNvPr id="6" name="Shape 3"/>
          <p:cNvSpPr/>
          <p:nvPr/>
        </p:nvSpPr>
        <p:spPr>
          <a:xfrm>
            <a:off x="8549640" y="4434840"/>
            <a:ext cx="3017520" cy="1097280"/>
          </a:xfrm>
          <a:prstGeom prst="roundRect">
            <a:avLst>
              <a:gd name="adj" fmla="val 13333"/>
            </a:avLst>
          </a:prstGeom>
          <a:solidFill>
            <a:srgbClr val="FFFFFF"/>
          </a:solidFill>
          <a:ln w="12700">
            <a:solidFill>
              <a:srgbClr val="FFFFFF"/>
            </a:solidFill>
            <a:prstDash val="solid"/>
          </a:ln>
        </p:spPr>
      </p:sp>
      <p:pic>
        <p:nvPicPr>
          <p:cNvPr id="7" name="Image 1" descr="preencoded.png">    </p:cNvPr>
          <p:cNvPicPr>
            <a:picLocks noChangeAspect="1"/>
          </p:cNvPicPr>
          <p:nvPr/>
        </p:nvPicPr>
        <p:blipFill>
          <a:blip r:embed="rId3"/>
          <a:stretch>
            <a:fillRect/>
          </a:stretch>
        </p:blipFill>
        <p:spPr>
          <a:xfrm>
            <a:off x="8732520" y="4636008"/>
            <a:ext cx="457200" cy="457200"/>
          </a:xfrm>
          <a:prstGeom prst="rect">
            <a:avLst/>
          </a:prstGeom>
        </p:spPr>
      </p:pic>
      <p:sp>
        <p:nvSpPr>
          <p:cNvPr id="8" name="Text 4"/>
          <p:cNvSpPr txBox="1"/>
          <p:nvPr/>
        </p:nvSpPr>
        <p:spPr>
          <a:xfrm>
            <a:off x="9281160" y="4480560"/>
            <a:ext cx="2240280" cy="1005840"/>
          </a:xfrm>
          <a:prstGeom prst="rect">
            <a:avLst/>
          </a:prstGeom>
          <a:noFill/>
          <a:ln/>
        </p:spPr>
        <p:txBody>
          <a:bodyPr wrap="square" lIns="0" tIns="0" rIns="0" bIns="0" rtlCol="0" anchor="ctr"/>
          <a:lstStyle/>
          <a:p>
            <a:pPr indent="0" marL="0">
              <a:buNone/>
            </a:pPr>
            <a:r>
              <a:rPr lang="en-US" sz="1200" b="1" dirty="0">
                <a:solidFill>
                  <a:srgbClr val="1E1338"/>
                </a:solidFill>
                <a:latin typeface="Calibri" pitchFamily="34" charset="0"/>
                <a:ea typeface="Calibri" pitchFamily="34" charset="-122"/>
                <a:cs typeface="Calibri" pitchFamily="34" charset="-120"/>
              </a:rPr>
              <a:t>Video</a:t>
            </a:r>
            <a:endParaRPr lang="en-US" sz="1200" dirty="0"/>
          </a:p>
          <a:p>
            <a:pPr indent="0" marL="0">
              <a:buNone/>
            </a:pPr>
            <a:r>
              <a:rPr lang="en-US" sz="1200" dirty="0">
                <a:solidFill>
                  <a:srgbClr val="1E1338"/>
                </a:solidFill>
                <a:latin typeface="Calibri" pitchFamily="34" charset="0"/>
                <a:ea typeface="Calibri" pitchFamily="34" charset="-122"/>
                <a:cs typeface="Calibri" pitchFamily="34" charset="-120"/>
              </a:rPr>
              <a:t>interlinked.mp4 · 4:01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26</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How the portals link</a:t>
            </a:r>
            <a:endParaRPr lang="en-US" sz="3000" dirty="0"/>
          </a:p>
        </p:txBody>
      </p:sp>
      <p:sp>
        <p:nvSpPr>
          <p:cNvPr id="5" name="Shape 3"/>
          <p:cNvSpPr/>
          <p:nvPr/>
        </p:nvSpPr>
        <p:spPr>
          <a:xfrm>
            <a:off x="502920" y="1143000"/>
            <a:ext cx="3520440" cy="384048"/>
          </a:xfrm>
          <a:prstGeom prst="roundRect">
            <a:avLst>
              <a:gd name="adj" fmla="val 23810"/>
            </a:avLst>
          </a:prstGeom>
          <a:solidFill>
            <a:srgbClr val="6D28D9"/>
          </a:solidFill>
          <a:ln w="12700">
            <a:solidFill>
              <a:srgbClr val="6D28D9"/>
            </a:solidFill>
            <a:prstDash val="solid"/>
          </a:ln>
        </p:spPr>
      </p:sp>
      <p:sp>
        <p:nvSpPr>
          <p:cNvPr id="6" name="Text 4"/>
          <p:cNvSpPr txBox="1"/>
          <p:nvPr/>
        </p:nvSpPr>
        <p:spPr>
          <a:xfrm>
            <a:off x="502920" y="1143000"/>
            <a:ext cx="3520440" cy="38404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STUDENT</a:t>
            </a:r>
            <a:endParaRPr lang="en-US" sz="1300" dirty="0"/>
          </a:p>
        </p:txBody>
      </p:sp>
      <p:sp>
        <p:nvSpPr>
          <p:cNvPr id="7" name="Shape 5"/>
          <p:cNvSpPr/>
          <p:nvPr/>
        </p:nvSpPr>
        <p:spPr>
          <a:xfrm>
            <a:off x="4343400" y="1143000"/>
            <a:ext cx="3520440" cy="384048"/>
          </a:xfrm>
          <a:prstGeom prst="roundRect">
            <a:avLst>
              <a:gd name="adj" fmla="val 23810"/>
            </a:avLst>
          </a:prstGeom>
          <a:solidFill>
            <a:srgbClr val="0F766E"/>
          </a:solidFill>
          <a:ln w="12700">
            <a:solidFill>
              <a:srgbClr val="0F766E"/>
            </a:solidFill>
            <a:prstDash val="solid"/>
          </a:ln>
        </p:spPr>
      </p:sp>
      <p:sp>
        <p:nvSpPr>
          <p:cNvPr id="8" name="Text 6"/>
          <p:cNvSpPr txBox="1"/>
          <p:nvPr/>
        </p:nvSpPr>
        <p:spPr>
          <a:xfrm>
            <a:off x="4343400" y="1143000"/>
            <a:ext cx="3520440" cy="38404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FACULTY</a:t>
            </a:r>
            <a:endParaRPr lang="en-US" sz="1300" dirty="0"/>
          </a:p>
        </p:txBody>
      </p:sp>
      <p:sp>
        <p:nvSpPr>
          <p:cNvPr id="9" name="Shape 7"/>
          <p:cNvSpPr/>
          <p:nvPr/>
        </p:nvSpPr>
        <p:spPr>
          <a:xfrm>
            <a:off x="8183880" y="1143000"/>
            <a:ext cx="3520440" cy="384048"/>
          </a:xfrm>
          <a:prstGeom prst="roundRect">
            <a:avLst>
              <a:gd name="adj" fmla="val 23810"/>
            </a:avLst>
          </a:prstGeom>
          <a:solidFill>
            <a:srgbClr val="DB2777"/>
          </a:solidFill>
          <a:ln w="12700">
            <a:solidFill>
              <a:srgbClr val="DB2777"/>
            </a:solidFill>
            <a:prstDash val="solid"/>
          </a:ln>
        </p:spPr>
      </p:sp>
      <p:sp>
        <p:nvSpPr>
          <p:cNvPr id="10" name="Text 8"/>
          <p:cNvSpPr txBox="1"/>
          <p:nvPr/>
        </p:nvSpPr>
        <p:spPr>
          <a:xfrm>
            <a:off x="8183880" y="1143000"/>
            <a:ext cx="3520440" cy="38404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MAIN ADMIN</a:t>
            </a:r>
            <a:endParaRPr lang="en-US" sz="1300" dirty="0"/>
          </a:p>
        </p:txBody>
      </p:sp>
      <p:sp>
        <p:nvSpPr>
          <p:cNvPr id="11" name="Shape 9"/>
          <p:cNvSpPr/>
          <p:nvPr/>
        </p:nvSpPr>
        <p:spPr>
          <a:xfrm>
            <a:off x="502920" y="1691640"/>
            <a:ext cx="3520440" cy="1325880"/>
          </a:xfrm>
          <a:prstGeom prst="roundRect">
            <a:avLst>
              <a:gd name="adj" fmla="val 8276"/>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12" name="Shape 10"/>
          <p:cNvSpPr/>
          <p:nvPr/>
        </p:nvSpPr>
        <p:spPr>
          <a:xfrm>
            <a:off x="640080" y="1828800"/>
            <a:ext cx="384048" cy="384048"/>
          </a:xfrm>
          <a:prstGeom prst="ellipse">
            <a:avLst/>
          </a:prstGeom>
          <a:solidFill>
            <a:srgbClr val="6D28D9"/>
          </a:solidFill>
          <a:ln w="12700">
            <a:solidFill>
              <a:srgbClr val="6D28D9"/>
            </a:solidFill>
            <a:prstDash val="solid"/>
          </a:ln>
        </p:spPr>
      </p:sp>
      <p:sp>
        <p:nvSpPr>
          <p:cNvPr id="13" name="Text 11"/>
          <p:cNvSpPr txBox="1"/>
          <p:nvPr/>
        </p:nvSpPr>
        <p:spPr>
          <a:xfrm>
            <a:off x="640080"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1124712" y="1847088"/>
            <a:ext cx="2788920" cy="219456"/>
          </a:xfrm>
          <a:prstGeom prst="rect">
            <a:avLst/>
          </a:prstGeom>
          <a:noFill/>
          <a:ln/>
        </p:spPr>
        <p:txBody>
          <a:bodyPr wrap="square" lIns="0" tIns="0" rIns="0" bIns="0" rtlCol="0" anchor="ctr"/>
          <a:lstStyle/>
          <a:p>
            <a:pPr indent="0" marL="0">
              <a:buNone/>
            </a:pPr>
            <a:r>
              <a:rPr lang="en-US" sz="850" b="1" spc="100" kern="0" dirty="0">
                <a:solidFill>
                  <a:srgbClr val="6D28D9"/>
                </a:solidFill>
                <a:latin typeface="Calibri" pitchFamily="34" charset="0"/>
                <a:ea typeface="Calibri" pitchFamily="34" charset="-122"/>
                <a:cs typeface="Calibri" pitchFamily="34" charset="-120"/>
              </a:rPr>
              <a:t>STUDENT</a:t>
            </a:r>
            <a:endParaRPr lang="en-US" sz="850" dirty="0"/>
          </a:p>
        </p:txBody>
      </p:sp>
      <p:sp>
        <p:nvSpPr>
          <p:cNvPr id="15" name="Text 13"/>
          <p:cNvSpPr txBox="1"/>
          <p:nvPr/>
        </p:nvSpPr>
        <p:spPr>
          <a:xfrm>
            <a:off x="1124712" y="20574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Claims a skill with a certificate</a:t>
            </a:r>
            <a:endParaRPr lang="en-US" sz="1250" dirty="0"/>
          </a:p>
        </p:txBody>
      </p:sp>
      <p:sp>
        <p:nvSpPr>
          <p:cNvPr id="16" name="Text 14"/>
          <p:cNvSpPr txBox="1"/>
          <p:nvPr/>
        </p:nvSpPr>
        <p:spPr>
          <a:xfrm>
            <a:off x="640080" y="2560320"/>
            <a:ext cx="3246120" cy="3657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Skilling → Submit claim. Certificate filed under Uploads; mentor emailed.</a:t>
            </a:r>
            <a:endParaRPr lang="en-US" sz="1050" dirty="0"/>
          </a:p>
        </p:txBody>
      </p:sp>
      <p:sp>
        <p:nvSpPr>
          <p:cNvPr id="17" name="Shape 15"/>
          <p:cNvSpPr/>
          <p:nvPr/>
        </p:nvSpPr>
        <p:spPr>
          <a:xfrm>
            <a:off x="4343400" y="1691640"/>
            <a:ext cx="3520440" cy="1325880"/>
          </a:xfrm>
          <a:prstGeom prst="roundRect">
            <a:avLst>
              <a:gd name="adj" fmla="val 8276"/>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18" name="Shape 16"/>
          <p:cNvSpPr/>
          <p:nvPr/>
        </p:nvSpPr>
        <p:spPr>
          <a:xfrm>
            <a:off x="4480560" y="1828800"/>
            <a:ext cx="384048" cy="384048"/>
          </a:xfrm>
          <a:prstGeom prst="ellipse">
            <a:avLst/>
          </a:prstGeom>
          <a:solidFill>
            <a:srgbClr val="0F766E"/>
          </a:solidFill>
          <a:ln w="12700">
            <a:solidFill>
              <a:srgbClr val="0F766E"/>
            </a:solidFill>
            <a:prstDash val="solid"/>
          </a:ln>
        </p:spPr>
      </p:sp>
      <p:sp>
        <p:nvSpPr>
          <p:cNvPr id="19" name="Text 17"/>
          <p:cNvSpPr txBox="1"/>
          <p:nvPr/>
        </p:nvSpPr>
        <p:spPr>
          <a:xfrm>
            <a:off x="4480560"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0" name="Text 18"/>
          <p:cNvSpPr txBox="1"/>
          <p:nvPr/>
        </p:nvSpPr>
        <p:spPr>
          <a:xfrm>
            <a:off x="4965192" y="1847088"/>
            <a:ext cx="2788920" cy="219456"/>
          </a:xfrm>
          <a:prstGeom prst="rect">
            <a:avLst/>
          </a:prstGeom>
          <a:noFill/>
          <a:ln/>
        </p:spPr>
        <p:txBody>
          <a:bodyPr wrap="square" lIns="0" tIns="0" rIns="0" bIns="0" rtlCol="0" anchor="ctr"/>
          <a:lstStyle/>
          <a:p>
            <a:pPr indent="0" marL="0">
              <a:buNone/>
            </a:pPr>
            <a:r>
              <a:rPr lang="en-US" sz="850" b="1" spc="100" kern="0" dirty="0">
                <a:solidFill>
                  <a:srgbClr val="0F766E"/>
                </a:solidFill>
                <a:latin typeface="Calibri" pitchFamily="34" charset="0"/>
                <a:ea typeface="Calibri" pitchFamily="34" charset="-122"/>
                <a:cs typeface="Calibri" pitchFamily="34" charset="-120"/>
              </a:rPr>
              <a:t>FACULTY</a:t>
            </a:r>
            <a:endParaRPr lang="en-US" sz="850" dirty="0"/>
          </a:p>
        </p:txBody>
      </p:sp>
      <p:sp>
        <p:nvSpPr>
          <p:cNvPr id="21" name="Text 19"/>
          <p:cNvSpPr txBox="1"/>
          <p:nvPr/>
        </p:nvSpPr>
        <p:spPr>
          <a:xfrm>
            <a:off x="4965192" y="20574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Verifies the claim</a:t>
            </a:r>
            <a:endParaRPr lang="en-US" sz="1250" dirty="0"/>
          </a:p>
        </p:txBody>
      </p:sp>
      <p:sp>
        <p:nvSpPr>
          <p:cNvPr id="22" name="Text 20"/>
          <p:cNvSpPr txBox="1"/>
          <p:nvPr/>
        </p:nvSpPr>
        <p:spPr>
          <a:xfrm>
            <a:off x="4480560" y="2560320"/>
            <a:ext cx="3246120" cy="3657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Skill Verifications → Verify. Badge EARNED and certificate VERIFIED in one act.</a:t>
            </a:r>
            <a:endParaRPr lang="en-US" sz="1050" dirty="0"/>
          </a:p>
        </p:txBody>
      </p:sp>
      <p:sp>
        <p:nvSpPr>
          <p:cNvPr id="23" name="Shape 21"/>
          <p:cNvSpPr/>
          <p:nvPr/>
        </p:nvSpPr>
        <p:spPr>
          <a:xfrm>
            <a:off x="502920" y="3108960"/>
            <a:ext cx="3520440" cy="1325880"/>
          </a:xfrm>
          <a:prstGeom prst="roundRect">
            <a:avLst>
              <a:gd name="adj" fmla="val 8276"/>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24" name="Shape 22"/>
          <p:cNvSpPr/>
          <p:nvPr/>
        </p:nvSpPr>
        <p:spPr>
          <a:xfrm>
            <a:off x="640080" y="3246120"/>
            <a:ext cx="384048" cy="384048"/>
          </a:xfrm>
          <a:prstGeom prst="ellipse">
            <a:avLst/>
          </a:prstGeom>
          <a:solidFill>
            <a:srgbClr val="6D28D9"/>
          </a:solidFill>
          <a:ln w="12700">
            <a:solidFill>
              <a:srgbClr val="6D28D9"/>
            </a:solidFill>
            <a:prstDash val="solid"/>
          </a:ln>
        </p:spPr>
      </p:sp>
      <p:sp>
        <p:nvSpPr>
          <p:cNvPr id="25" name="Text 23"/>
          <p:cNvSpPr txBox="1"/>
          <p:nvPr/>
        </p:nvSpPr>
        <p:spPr>
          <a:xfrm>
            <a:off x="640080" y="3246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1124712" y="3264408"/>
            <a:ext cx="2788920" cy="219456"/>
          </a:xfrm>
          <a:prstGeom prst="rect">
            <a:avLst/>
          </a:prstGeom>
          <a:noFill/>
          <a:ln/>
        </p:spPr>
        <p:txBody>
          <a:bodyPr wrap="square" lIns="0" tIns="0" rIns="0" bIns="0" rtlCol="0" anchor="ctr"/>
          <a:lstStyle/>
          <a:p>
            <a:pPr indent="0" marL="0">
              <a:buNone/>
            </a:pPr>
            <a:r>
              <a:rPr lang="en-US" sz="850" b="1" spc="100" kern="0" dirty="0">
                <a:solidFill>
                  <a:srgbClr val="6D28D9"/>
                </a:solidFill>
                <a:latin typeface="Calibri" pitchFamily="34" charset="0"/>
                <a:ea typeface="Calibri" pitchFamily="34" charset="-122"/>
                <a:cs typeface="Calibri" pitchFamily="34" charset="-120"/>
              </a:rPr>
              <a:t>STUDENT</a:t>
            </a:r>
            <a:endParaRPr lang="en-US" sz="850" dirty="0"/>
          </a:p>
        </p:txBody>
      </p:sp>
      <p:sp>
        <p:nvSpPr>
          <p:cNvPr id="27" name="Text 25"/>
          <p:cNvSpPr txBox="1"/>
          <p:nvPr/>
        </p:nvSpPr>
        <p:spPr>
          <a:xfrm>
            <a:off x="1124712" y="347472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Asks for a meeting</a:t>
            </a:r>
            <a:endParaRPr lang="en-US" sz="1250" dirty="0"/>
          </a:p>
        </p:txBody>
      </p:sp>
      <p:sp>
        <p:nvSpPr>
          <p:cNvPr id="28" name="Text 26"/>
          <p:cNvSpPr txBox="1"/>
          <p:nvPr/>
        </p:nvSpPr>
        <p:spPr>
          <a:xfrm>
            <a:off x="640080" y="3977640"/>
            <a:ext cx="3246120" cy="3657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Faculty / TPO Log → Request a meeting. Arrives as a note on the Mentee Log.</a:t>
            </a:r>
            <a:endParaRPr lang="en-US" sz="1050" dirty="0"/>
          </a:p>
        </p:txBody>
      </p:sp>
      <p:sp>
        <p:nvSpPr>
          <p:cNvPr id="29" name="Shape 27"/>
          <p:cNvSpPr/>
          <p:nvPr/>
        </p:nvSpPr>
        <p:spPr>
          <a:xfrm>
            <a:off x="4343400" y="3108960"/>
            <a:ext cx="3520440" cy="1325880"/>
          </a:xfrm>
          <a:prstGeom prst="roundRect">
            <a:avLst>
              <a:gd name="adj" fmla="val 8276"/>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30" name="Shape 28"/>
          <p:cNvSpPr/>
          <p:nvPr/>
        </p:nvSpPr>
        <p:spPr>
          <a:xfrm>
            <a:off x="4480560" y="3246120"/>
            <a:ext cx="384048" cy="384048"/>
          </a:xfrm>
          <a:prstGeom prst="ellipse">
            <a:avLst/>
          </a:prstGeom>
          <a:solidFill>
            <a:srgbClr val="0F766E"/>
          </a:solidFill>
          <a:ln w="12700">
            <a:solidFill>
              <a:srgbClr val="0F766E"/>
            </a:solidFill>
            <a:prstDash val="solid"/>
          </a:ln>
        </p:spPr>
      </p:sp>
      <p:sp>
        <p:nvSpPr>
          <p:cNvPr id="31" name="Text 29"/>
          <p:cNvSpPr txBox="1"/>
          <p:nvPr/>
        </p:nvSpPr>
        <p:spPr>
          <a:xfrm>
            <a:off x="4480560" y="3246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30"/>
          <p:cNvSpPr txBox="1"/>
          <p:nvPr/>
        </p:nvSpPr>
        <p:spPr>
          <a:xfrm>
            <a:off x="4965192" y="3264408"/>
            <a:ext cx="2788920" cy="219456"/>
          </a:xfrm>
          <a:prstGeom prst="rect">
            <a:avLst/>
          </a:prstGeom>
          <a:noFill/>
          <a:ln/>
        </p:spPr>
        <p:txBody>
          <a:bodyPr wrap="square" lIns="0" tIns="0" rIns="0" bIns="0" rtlCol="0" anchor="ctr"/>
          <a:lstStyle/>
          <a:p>
            <a:pPr indent="0" marL="0">
              <a:buNone/>
            </a:pPr>
            <a:r>
              <a:rPr lang="en-US" sz="850" b="1" spc="100" kern="0" dirty="0">
                <a:solidFill>
                  <a:srgbClr val="0F766E"/>
                </a:solidFill>
                <a:latin typeface="Calibri" pitchFamily="34" charset="0"/>
                <a:ea typeface="Calibri" pitchFamily="34" charset="-122"/>
                <a:cs typeface="Calibri" pitchFamily="34" charset="-120"/>
              </a:rPr>
              <a:t>FACULTY</a:t>
            </a:r>
            <a:endParaRPr lang="en-US" sz="850" dirty="0"/>
          </a:p>
        </p:txBody>
      </p:sp>
      <p:sp>
        <p:nvSpPr>
          <p:cNvPr id="33" name="Text 31"/>
          <p:cNvSpPr txBox="1"/>
          <p:nvPr/>
        </p:nvSpPr>
        <p:spPr>
          <a:xfrm>
            <a:off x="4965192" y="347472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Records the 1:1</a:t>
            </a:r>
            <a:endParaRPr lang="en-US" sz="1250" dirty="0"/>
          </a:p>
        </p:txBody>
      </p:sp>
      <p:sp>
        <p:nvSpPr>
          <p:cNvPr id="34" name="Text 32"/>
          <p:cNvSpPr txBox="1"/>
          <p:nvPr/>
        </p:nvSpPr>
        <p:spPr>
          <a:xfrm>
            <a:off x="4480560" y="3977640"/>
            <a:ext cx="3246120" cy="3657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Mentee Log → Save note. The note appears on the student's own log.</a:t>
            </a:r>
            <a:endParaRPr lang="en-US" sz="1050" dirty="0"/>
          </a:p>
        </p:txBody>
      </p:sp>
      <p:sp>
        <p:nvSpPr>
          <p:cNvPr id="35" name="Shape 33"/>
          <p:cNvSpPr/>
          <p:nvPr/>
        </p:nvSpPr>
        <p:spPr>
          <a:xfrm>
            <a:off x="8183880" y="1691640"/>
            <a:ext cx="3520440" cy="1325880"/>
          </a:xfrm>
          <a:prstGeom prst="roundRect">
            <a:avLst>
              <a:gd name="adj" fmla="val 8276"/>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36" name="Shape 34"/>
          <p:cNvSpPr/>
          <p:nvPr/>
        </p:nvSpPr>
        <p:spPr>
          <a:xfrm>
            <a:off x="8321040" y="1828800"/>
            <a:ext cx="384048" cy="384048"/>
          </a:xfrm>
          <a:prstGeom prst="ellipse">
            <a:avLst/>
          </a:prstGeom>
          <a:solidFill>
            <a:srgbClr val="DB2777"/>
          </a:solidFill>
          <a:ln w="12700">
            <a:solidFill>
              <a:srgbClr val="DB2777"/>
            </a:solidFill>
            <a:prstDash val="solid"/>
          </a:ln>
        </p:spPr>
      </p:sp>
      <p:sp>
        <p:nvSpPr>
          <p:cNvPr id="37" name="Text 35"/>
          <p:cNvSpPr txBox="1"/>
          <p:nvPr/>
        </p:nvSpPr>
        <p:spPr>
          <a:xfrm>
            <a:off x="8321040"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8" name="Text 36"/>
          <p:cNvSpPr txBox="1"/>
          <p:nvPr/>
        </p:nvSpPr>
        <p:spPr>
          <a:xfrm>
            <a:off x="8805672" y="1847088"/>
            <a:ext cx="2788920" cy="219456"/>
          </a:xfrm>
          <a:prstGeom prst="rect">
            <a:avLst/>
          </a:prstGeom>
          <a:noFill/>
          <a:ln/>
        </p:spPr>
        <p:txBody>
          <a:bodyPr wrap="square" lIns="0" tIns="0" rIns="0" bIns="0" rtlCol="0" anchor="ctr"/>
          <a:lstStyle/>
          <a:p>
            <a:pPr indent="0" marL="0">
              <a:buNone/>
            </a:pPr>
            <a:r>
              <a:rPr lang="en-US" sz="850" b="1" spc="100" kern="0" dirty="0">
                <a:solidFill>
                  <a:srgbClr val="DB2777"/>
                </a:solidFill>
                <a:latin typeface="Calibri" pitchFamily="34" charset="0"/>
                <a:ea typeface="Calibri" pitchFamily="34" charset="-122"/>
                <a:cs typeface="Calibri" pitchFamily="34" charset="-120"/>
              </a:rPr>
              <a:t>MAIN ADMIN</a:t>
            </a:r>
            <a:endParaRPr lang="en-US" sz="850" dirty="0"/>
          </a:p>
        </p:txBody>
      </p:sp>
      <p:sp>
        <p:nvSpPr>
          <p:cNvPr id="39" name="Text 37"/>
          <p:cNvSpPr txBox="1"/>
          <p:nvPr/>
        </p:nvSpPr>
        <p:spPr>
          <a:xfrm>
            <a:off x="8805672" y="20574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Writes SWOC, posts a job</a:t>
            </a:r>
            <a:endParaRPr lang="en-US" sz="1250" dirty="0"/>
          </a:p>
        </p:txBody>
      </p:sp>
      <p:sp>
        <p:nvSpPr>
          <p:cNvPr id="40" name="Text 38"/>
          <p:cNvSpPr txBox="1"/>
          <p:nvPr/>
        </p:nvSpPr>
        <p:spPr>
          <a:xfrm>
            <a:off x="8321040" y="2560320"/>
            <a:ext cx="3246120" cy="3657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SWOC notes → Save; Job postings → Publish. The line lands on Home, the job on Jobs.</a:t>
            </a:r>
            <a:endParaRPr lang="en-US" sz="1050" dirty="0"/>
          </a:p>
        </p:txBody>
      </p:sp>
      <p:sp>
        <p:nvSpPr>
          <p:cNvPr id="41" name="Shape 39"/>
          <p:cNvSpPr/>
          <p:nvPr/>
        </p:nvSpPr>
        <p:spPr>
          <a:xfrm>
            <a:off x="4343400" y="4526280"/>
            <a:ext cx="3520440" cy="1325880"/>
          </a:xfrm>
          <a:prstGeom prst="roundRect">
            <a:avLst>
              <a:gd name="adj" fmla="val 8276"/>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42" name="Shape 40"/>
          <p:cNvSpPr/>
          <p:nvPr/>
        </p:nvSpPr>
        <p:spPr>
          <a:xfrm>
            <a:off x="4480560" y="4663440"/>
            <a:ext cx="384048" cy="384048"/>
          </a:xfrm>
          <a:prstGeom prst="ellipse">
            <a:avLst/>
          </a:prstGeom>
          <a:solidFill>
            <a:srgbClr val="0F766E"/>
          </a:solidFill>
          <a:ln w="12700">
            <a:solidFill>
              <a:srgbClr val="0F766E"/>
            </a:solidFill>
            <a:prstDash val="solid"/>
          </a:ln>
        </p:spPr>
      </p:sp>
      <p:sp>
        <p:nvSpPr>
          <p:cNvPr id="43" name="Text 41"/>
          <p:cNvSpPr txBox="1"/>
          <p:nvPr/>
        </p:nvSpPr>
        <p:spPr>
          <a:xfrm>
            <a:off x="448056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4" name="Text 42"/>
          <p:cNvSpPr txBox="1"/>
          <p:nvPr/>
        </p:nvSpPr>
        <p:spPr>
          <a:xfrm>
            <a:off x="4965192" y="4681728"/>
            <a:ext cx="2788920" cy="219456"/>
          </a:xfrm>
          <a:prstGeom prst="rect">
            <a:avLst/>
          </a:prstGeom>
          <a:noFill/>
          <a:ln/>
        </p:spPr>
        <p:txBody>
          <a:bodyPr wrap="square" lIns="0" tIns="0" rIns="0" bIns="0" rtlCol="0" anchor="ctr"/>
          <a:lstStyle/>
          <a:p>
            <a:pPr indent="0" marL="0">
              <a:buNone/>
            </a:pPr>
            <a:r>
              <a:rPr lang="en-US" sz="850" b="1" spc="100" kern="0" dirty="0">
                <a:solidFill>
                  <a:srgbClr val="0F766E"/>
                </a:solidFill>
                <a:latin typeface="Calibri" pitchFamily="34" charset="0"/>
                <a:ea typeface="Calibri" pitchFamily="34" charset="-122"/>
                <a:cs typeface="Calibri" pitchFamily="34" charset="-120"/>
              </a:rPr>
              <a:t>FACULTY</a:t>
            </a:r>
            <a:endParaRPr lang="en-US" sz="850" dirty="0"/>
          </a:p>
        </p:txBody>
      </p:sp>
      <p:sp>
        <p:nvSpPr>
          <p:cNvPr id="45" name="Text 43"/>
          <p:cNvSpPr txBox="1"/>
          <p:nvPr/>
        </p:nvSpPr>
        <p:spPr>
          <a:xfrm>
            <a:off x="4965192" y="489204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Applies for leave</a:t>
            </a:r>
            <a:endParaRPr lang="en-US" sz="1250" dirty="0"/>
          </a:p>
        </p:txBody>
      </p:sp>
      <p:sp>
        <p:nvSpPr>
          <p:cNvPr id="46" name="Text 44"/>
          <p:cNvSpPr txBox="1"/>
          <p:nvPr/>
        </p:nvSpPr>
        <p:spPr>
          <a:xfrm>
            <a:off x="4480560" y="5394960"/>
            <a:ext cx="3246120" cy="3657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Leave Requests → Sign &amp; submit to Program Director.</a:t>
            </a:r>
            <a:endParaRPr lang="en-US" sz="1050" dirty="0"/>
          </a:p>
        </p:txBody>
      </p:sp>
      <p:sp>
        <p:nvSpPr>
          <p:cNvPr id="47" name="Shape 45"/>
          <p:cNvSpPr/>
          <p:nvPr/>
        </p:nvSpPr>
        <p:spPr>
          <a:xfrm>
            <a:off x="8183880" y="4526280"/>
            <a:ext cx="3520440" cy="1325880"/>
          </a:xfrm>
          <a:prstGeom prst="roundRect">
            <a:avLst>
              <a:gd name="adj" fmla="val 8276"/>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48" name="Shape 46"/>
          <p:cNvSpPr/>
          <p:nvPr/>
        </p:nvSpPr>
        <p:spPr>
          <a:xfrm>
            <a:off x="8321040" y="4663440"/>
            <a:ext cx="384048" cy="384048"/>
          </a:xfrm>
          <a:prstGeom prst="ellipse">
            <a:avLst/>
          </a:prstGeom>
          <a:solidFill>
            <a:srgbClr val="DB2777"/>
          </a:solidFill>
          <a:ln w="12700">
            <a:solidFill>
              <a:srgbClr val="DB2777"/>
            </a:solidFill>
            <a:prstDash val="solid"/>
          </a:ln>
        </p:spPr>
      </p:sp>
      <p:sp>
        <p:nvSpPr>
          <p:cNvPr id="49" name="Text 47"/>
          <p:cNvSpPr txBox="1"/>
          <p:nvPr/>
        </p:nvSpPr>
        <p:spPr>
          <a:xfrm>
            <a:off x="832104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50" name="Text 48"/>
          <p:cNvSpPr txBox="1"/>
          <p:nvPr/>
        </p:nvSpPr>
        <p:spPr>
          <a:xfrm>
            <a:off x="8805672" y="4681728"/>
            <a:ext cx="2788920" cy="219456"/>
          </a:xfrm>
          <a:prstGeom prst="rect">
            <a:avLst/>
          </a:prstGeom>
          <a:noFill/>
          <a:ln/>
        </p:spPr>
        <p:txBody>
          <a:bodyPr wrap="square" lIns="0" tIns="0" rIns="0" bIns="0" rtlCol="0" anchor="ctr"/>
          <a:lstStyle/>
          <a:p>
            <a:pPr indent="0" marL="0">
              <a:buNone/>
            </a:pPr>
            <a:r>
              <a:rPr lang="en-US" sz="850" b="1" spc="100" kern="0" dirty="0">
                <a:solidFill>
                  <a:srgbClr val="DB2777"/>
                </a:solidFill>
                <a:latin typeface="Calibri" pitchFamily="34" charset="0"/>
                <a:ea typeface="Calibri" pitchFamily="34" charset="-122"/>
                <a:cs typeface="Calibri" pitchFamily="34" charset="-120"/>
              </a:rPr>
              <a:t>MAIN ADMIN</a:t>
            </a:r>
            <a:endParaRPr lang="en-US" sz="850" dirty="0"/>
          </a:p>
        </p:txBody>
      </p:sp>
      <p:sp>
        <p:nvSpPr>
          <p:cNvPr id="51" name="Text 49"/>
          <p:cNvSpPr txBox="1"/>
          <p:nvPr/>
        </p:nvSpPr>
        <p:spPr>
          <a:xfrm>
            <a:off x="8805672" y="489204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Sanctions the leave</a:t>
            </a:r>
            <a:endParaRPr lang="en-US" sz="1250" dirty="0"/>
          </a:p>
        </p:txBody>
      </p:sp>
      <p:sp>
        <p:nvSpPr>
          <p:cNvPr id="52" name="Text 50"/>
          <p:cNvSpPr txBox="1"/>
          <p:nvPr/>
        </p:nvSpPr>
        <p:spPr>
          <a:xfrm>
            <a:off x="8321040" y="5394960"/>
            <a:ext cx="3246120" cy="3657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Leave requests → Sanction with remarks; the college form PDF carries both signatures.</a:t>
            </a:r>
            <a:endParaRPr lang="en-US" sz="1050" dirty="0"/>
          </a:p>
        </p:txBody>
      </p:sp>
      <p:sp>
        <p:nvSpPr>
          <p:cNvPr id="53" name="Shape 51"/>
          <p:cNvSpPr/>
          <p:nvPr/>
        </p:nvSpPr>
        <p:spPr>
          <a:xfrm>
            <a:off x="8183880" y="3108960"/>
            <a:ext cx="3520440" cy="1325880"/>
          </a:xfrm>
          <a:prstGeom prst="roundRect">
            <a:avLst>
              <a:gd name="adj" fmla="val 8276"/>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54" name="Shape 52"/>
          <p:cNvSpPr/>
          <p:nvPr/>
        </p:nvSpPr>
        <p:spPr>
          <a:xfrm>
            <a:off x="8321040" y="3246120"/>
            <a:ext cx="384048" cy="384048"/>
          </a:xfrm>
          <a:prstGeom prst="ellipse">
            <a:avLst/>
          </a:prstGeom>
          <a:solidFill>
            <a:srgbClr val="DB2777"/>
          </a:solidFill>
          <a:ln w="12700">
            <a:solidFill>
              <a:srgbClr val="DB2777"/>
            </a:solidFill>
            <a:prstDash val="solid"/>
          </a:ln>
        </p:spPr>
      </p:sp>
      <p:sp>
        <p:nvSpPr>
          <p:cNvPr id="55" name="Text 53"/>
          <p:cNvSpPr txBox="1"/>
          <p:nvPr/>
        </p:nvSpPr>
        <p:spPr>
          <a:xfrm>
            <a:off x="8321040" y="3246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56" name="Text 54"/>
          <p:cNvSpPr txBox="1"/>
          <p:nvPr/>
        </p:nvSpPr>
        <p:spPr>
          <a:xfrm>
            <a:off x="8805672" y="3264408"/>
            <a:ext cx="2788920" cy="219456"/>
          </a:xfrm>
          <a:prstGeom prst="rect">
            <a:avLst/>
          </a:prstGeom>
          <a:noFill/>
          <a:ln/>
        </p:spPr>
        <p:txBody>
          <a:bodyPr wrap="square" lIns="0" tIns="0" rIns="0" bIns="0" rtlCol="0" anchor="ctr"/>
          <a:lstStyle/>
          <a:p>
            <a:pPr indent="0" marL="0">
              <a:buNone/>
            </a:pPr>
            <a:r>
              <a:rPr lang="en-US" sz="850" b="1" spc="100" kern="0" dirty="0">
                <a:solidFill>
                  <a:srgbClr val="DB2777"/>
                </a:solidFill>
                <a:latin typeface="Calibri" pitchFamily="34" charset="0"/>
                <a:ea typeface="Calibri" pitchFamily="34" charset="-122"/>
                <a:cs typeface="Calibri" pitchFamily="34" charset="-120"/>
              </a:rPr>
              <a:t>MAIN ADMIN</a:t>
            </a:r>
            <a:endParaRPr lang="en-US" sz="850" dirty="0"/>
          </a:p>
        </p:txBody>
      </p:sp>
      <p:sp>
        <p:nvSpPr>
          <p:cNvPr id="57" name="Text 55"/>
          <p:cNvSpPr txBox="1"/>
          <p:nvPr/>
        </p:nvSpPr>
        <p:spPr>
          <a:xfrm>
            <a:off x="8805672" y="347472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Assigns faculty, grants access</a:t>
            </a:r>
            <a:endParaRPr lang="en-US" sz="1250" dirty="0"/>
          </a:p>
        </p:txBody>
      </p:sp>
      <p:sp>
        <p:nvSpPr>
          <p:cNvPr id="58" name="Text 56"/>
          <p:cNvSpPr txBox="1"/>
          <p:nvPr/>
        </p:nvSpPr>
        <p:spPr>
          <a:xfrm>
            <a:off x="8321040" y="3977640"/>
            <a:ext cx="3246120" cy="3657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Assign faculty seats a student in a group (rule 2); Who can do what lends a screen.</a:t>
            </a:r>
            <a:endParaRPr lang="en-US" sz="1050" dirty="0"/>
          </a:p>
        </p:txBody>
      </p:sp>
      <p:sp>
        <p:nvSpPr>
          <p:cNvPr id="59" name="Shape 57"/>
          <p:cNvSpPr/>
          <p:nvPr/>
        </p:nvSpPr>
        <p:spPr>
          <a:xfrm>
            <a:off x="4023360" y="2240280"/>
            <a:ext cx="320040" cy="9144"/>
          </a:xfrm>
          <a:prstGeom prst="line">
            <a:avLst/>
          </a:prstGeom>
          <a:noFill/>
          <a:ln w="22225">
            <a:solidFill>
              <a:srgbClr val="6D28D9"/>
            </a:solidFill>
            <a:prstDash val="solid"/>
            <a:tailEnd type="triangle"/>
          </a:ln>
        </p:spPr>
      </p:sp>
      <p:sp>
        <p:nvSpPr>
          <p:cNvPr id="60" name="Shape 58"/>
          <p:cNvSpPr/>
          <p:nvPr/>
        </p:nvSpPr>
        <p:spPr>
          <a:xfrm>
            <a:off x="4023360" y="3657600"/>
            <a:ext cx="320040" cy="9144"/>
          </a:xfrm>
          <a:prstGeom prst="line">
            <a:avLst/>
          </a:prstGeom>
          <a:noFill/>
          <a:ln w="22225">
            <a:solidFill>
              <a:srgbClr val="6D28D9"/>
            </a:solidFill>
            <a:prstDash val="solid"/>
            <a:tailEnd type="triangle"/>
          </a:ln>
        </p:spPr>
      </p:sp>
      <p:sp>
        <p:nvSpPr>
          <p:cNvPr id="61" name="Shape 59"/>
          <p:cNvSpPr/>
          <p:nvPr/>
        </p:nvSpPr>
        <p:spPr>
          <a:xfrm>
            <a:off x="7863840" y="5074920"/>
            <a:ext cx="320040" cy="9144"/>
          </a:xfrm>
          <a:prstGeom prst="line">
            <a:avLst/>
          </a:prstGeom>
          <a:noFill/>
          <a:ln w="22225">
            <a:solidFill>
              <a:srgbClr val="0F766E"/>
            </a:solidFill>
            <a:prstDash val="solid"/>
            <a:tailEnd type="triangle"/>
          </a:ln>
        </p:spPr>
      </p:sp>
      <p:sp>
        <p:nvSpPr>
          <p:cNvPr id="62" name="Shape 60"/>
          <p:cNvSpPr/>
          <p:nvPr/>
        </p:nvSpPr>
        <p:spPr>
          <a:xfrm flipH="1">
            <a:off x="7863840" y="3657600"/>
            <a:ext cx="320040" cy="9144"/>
          </a:xfrm>
          <a:prstGeom prst="line">
            <a:avLst/>
          </a:prstGeom>
          <a:noFill/>
          <a:ln w="22225">
            <a:solidFill>
              <a:srgbClr val="DB2777"/>
            </a:solidFill>
            <a:prstDash val="solid"/>
            <a:tailEnd type="triangle"/>
          </a:ln>
        </p:spPr>
      </p:sp>
      <p:sp>
        <p:nvSpPr>
          <p:cNvPr id="63" name="Text 61"/>
          <p:cNvSpPr txBox="1"/>
          <p:nvPr/>
        </p:nvSpPr>
        <p:spPr>
          <a:xfrm>
            <a:off x="502920" y="5943600"/>
            <a:ext cx="11155680" cy="292608"/>
          </a:xfrm>
          <a:prstGeom prst="rect">
            <a:avLst/>
          </a:prstGeom>
          <a:noFill/>
          <a:ln/>
        </p:spPr>
        <p:txBody>
          <a:bodyPr wrap="square" lIns="0" tIns="0" rIns="0" bIns="0" rtlCol="0" anchor="ctr"/>
          <a:lstStyle/>
          <a:p>
            <a:pPr indent="0" marL="0">
              <a:buNone/>
            </a:pPr>
            <a:r>
              <a:rPr lang="en-US" sz="1100" b="1" dirty="0">
                <a:solidFill>
                  <a:srgbClr val="6D28D9"/>
                </a:solidFill>
                <a:latin typeface="Calibri" pitchFamily="34" charset="0"/>
                <a:ea typeface="Calibri" pitchFamily="34" charset="-122"/>
                <a:cs typeface="Calibri" pitchFamily="34" charset="-120"/>
              </a:rPr>
              <a:t>Back to the student: the lit badge on Skilling · the note on the Faculty / TPO Log · the SWOC line on Home · the job on Jobs</a:t>
            </a:r>
            <a:endParaRPr lang="en-US" sz="1100" dirty="0"/>
          </a:p>
        </p:txBody>
      </p:sp>
      <p:sp>
        <p:nvSpPr>
          <p:cNvPr id="64" name="Text 62"/>
          <p:cNvSpPr txBox="1"/>
          <p:nvPr/>
        </p:nvSpPr>
        <p:spPr>
          <a:xfrm>
            <a:off x="502920" y="6236208"/>
            <a:ext cx="11155680" cy="256032"/>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Every arrow is a database row the other portal reads through its own gate — nothing is copied between screens, and rule 2 filters every staff read.</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27</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The interlinked workflow, as recorded</a:t>
            </a:r>
            <a:endParaRPr lang="en-US" sz="3000" dirty="0"/>
          </a:p>
        </p:txBody>
      </p:sp>
      <p:sp>
        <p:nvSpPr>
          <p:cNvPr id="5" name="Shape 3"/>
          <p:cNvSpPr/>
          <p:nvPr/>
        </p:nvSpPr>
        <p:spPr>
          <a:xfrm>
            <a:off x="502920" y="1170432"/>
            <a:ext cx="1161288" cy="292608"/>
          </a:xfrm>
          <a:prstGeom prst="roundRect">
            <a:avLst>
              <a:gd name="adj" fmla="val 50000"/>
            </a:avLst>
          </a:prstGeom>
          <a:solidFill>
            <a:srgbClr val="6D28D9"/>
          </a:solidFill>
          <a:ln w="12700">
            <a:solidFill>
              <a:srgbClr val="6D28D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886968"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STUDENT</a:t>
            </a:r>
            <a:endParaRPr lang="en-US" sz="900" dirty="0"/>
          </a:p>
        </p:txBody>
      </p:sp>
      <p:sp>
        <p:nvSpPr>
          <p:cNvPr id="8" name="Text 5"/>
          <p:cNvSpPr txBox="1"/>
          <p:nvPr/>
        </p:nvSpPr>
        <p:spPr>
          <a:xfrm>
            <a:off x="2926080" y="1133856"/>
            <a:ext cx="8686800" cy="365760"/>
          </a:xfrm>
          <a:prstGeom prst="rect">
            <a:avLst/>
          </a:prstGeom>
          <a:noFill/>
          <a:ln/>
        </p:spPr>
        <p:txBody>
          <a:bodyPr wrap="square" lIns="0" tIns="0" rIns="0" bIns="0" rtlCol="0" anchor="ctr"/>
          <a:lstStyle/>
          <a:p>
            <a:pPr indent="0" marL="0">
              <a:buNone/>
            </a:pPr>
            <a:r>
              <a:rPr lang="en-US" sz="1250" dirty="0">
                <a:solidFill>
                  <a:srgbClr val="2B2340"/>
                </a:solidFill>
                <a:latin typeface="Calibri" pitchFamily="34" charset="0"/>
                <a:ea typeface="Calibri" pitchFamily="34" charset="-122"/>
                <a:cs typeface="Calibri" pitchFamily="34" charset="-120"/>
              </a:rPr>
              <a:t>Six frames from interlinked.mp4 — the claim, the verification, the note, the SWOC line, and the student's Home and Jobs afterwards.</a:t>
            </a:r>
            <a:endParaRPr lang="en-US" sz="1250" dirty="0"/>
          </a:p>
        </p:txBody>
      </p:sp>
      <p:sp>
        <p:nvSpPr>
          <p:cNvPr id="9" name="Shape 6"/>
          <p:cNvSpPr/>
          <p:nvPr/>
        </p:nvSpPr>
        <p:spPr>
          <a:xfrm>
            <a:off x="50292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1627632"/>
            <a:ext cx="3474720" cy="1954530"/>
          </a:xfrm>
          <a:prstGeom prst="rect">
            <a:avLst/>
          </a:prstGeom>
        </p:spPr>
      </p:pic>
      <p:sp>
        <p:nvSpPr>
          <p:cNvPr id="11" name="Text 7"/>
          <p:cNvSpPr txBox="1"/>
          <p:nvPr/>
        </p:nvSpPr>
        <p:spPr>
          <a:xfrm>
            <a:off x="54864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1 · Student — claim submitted</a:t>
            </a:r>
            <a:endParaRPr lang="en-US" sz="1050" dirty="0"/>
          </a:p>
        </p:txBody>
      </p:sp>
      <p:sp>
        <p:nvSpPr>
          <p:cNvPr id="12" name="Shape 8"/>
          <p:cNvSpPr/>
          <p:nvPr/>
        </p:nvSpPr>
        <p:spPr>
          <a:xfrm>
            <a:off x="429768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4343400" y="1627632"/>
            <a:ext cx="3474720" cy="1954530"/>
          </a:xfrm>
          <a:prstGeom prst="rect">
            <a:avLst/>
          </a:prstGeom>
        </p:spPr>
      </p:pic>
      <p:sp>
        <p:nvSpPr>
          <p:cNvPr id="14" name="Text 9"/>
          <p:cNvSpPr txBox="1"/>
          <p:nvPr/>
        </p:nvSpPr>
        <p:spPr>
          <a:xfrm>
            <a:off x="434340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2 · Mentor — verified</a:t>
            </a:r>
            <a:endParaRPr lang="en-US" sz="1050" dirty="0"/>
          </a:p>
        </p:txBody>
      </p:sp>
      <p:sp>
        <p:nvSpPr>
          <p:cNvPr id="15" name="Shape 10"/>
          <p:cNvSpPr/>
          <p:nvPr/>
        </p:nvSpPr>
        <p:spPr>
          <a:xfrm>
            <a:off x="809244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6" name="Image 3" descr="preencoded.png">    </p:cNvPr>
          <p:cNvPicPr>
            <a:picLocks noChangeAspect="1"/>
          </p:cNvPicPr>
          <p:nvPr/>
        </p:nvPicPr>
        <p:blipFill>
          <a:blip r:embed="rId4"/>
          <a:stretch>
            <a:fillRect/>
          </a:stretch>
        </p:blipFill>
        <p:spPr>
          <a:xfrm>
            <a:off x="8138160" y="1627632"/>
            <a:ext cx="3474720" cy="1954530"/>
          </a:xfrm>
          <a:prstGeom prst="rect">
            <a:avLst/>
          </a:prstGeom>
        </p:spPr>
      </p:pic>
      <p:sp>
        <p:nvSpPr>
          <p:cNvPr id="17" name="Text 11"/>
          <p:cNvSpPr txBox="1"/>
          <p:nvPr/>
        </p:nvSpPr>
        <p:spPr>
          <a:xfrm>
            <a:off x="813816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4 · Mentor — the meeting note</a:t>
            </a:r>
            <a:endParaRPr lang="en-US" sz="1050" dirty="0"/>
          </a:p>
        </p:txBody>
      </p:sp>
      <p:sp>
        <p:nvSpPr>
          <p:cNvPr id="18" name="Shape 12"/>
          <p:cNvSpPr/>
          <p:nvPr/>
        </p:nvSpPr>
        <p:spPr>
          <a:xfrm>
            <a:off x="50292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9" name="Image 4" descr="preencoded.png">    </p:cNvPr>
          <p:cNvPicPr>
            <a:picLocks noChangeAspect="1"/>
          </p:cNvPicPr>
          <p:nvPr/>
        </p:nvPicPr>
        <p:blipFill>
          <a:blip r:embed="rId5"/>
          <a:stretch>
            <a:fillRect/>
          </a:stretch>
        </p:blipFill>
        <p:spPr>
          <a:xfrm>
            <a:off x="548640" y="4039362"/>
            <a:ext cx="3474720" cy="1954530"/>
          </a:xfrm>
          <a:prstGeom prst="rect">
            <a:avLst/>
          </a:prstGeom>
        </p:spPr>
      </p:pic>
      <p:sp>
        <p:nvSpPr>
          <p:cNvPr id="20" name="Text 13"/>
          <p:cNvSpPr txBox="1"/>
          <p:nvPr/>
        </p:nvSpPr>
        <p:spPr>
          <a:xfrm>
            <a:off x="54864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5 · Main Admin — SWOC line saved</a:t>
            </a:r>
            <a:endParaRPr lang="en-US" sz="1050" dirty="0"/>
          </a:p>
        </p:txBody>
      </p:sp>
      <p:sp>
        <p:nvSpPr>
          <p:cNvPr id="21" name="Shape 14"/>
          <p:cNvSpPr/>
          <p:nvPr/>
        </p:nvSpPr>
        <p:spPr>
          <a:xfrm>
            <a:off x="429768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2" name="Image 5" descr="preencoded.png">    </p:cNvPr>
          <p:cNvPicPr>
            <a:picLocks noChangeAspect="1"/>
          </p:cNvPicPr>
          <p:nvPr/>
        </p:nvPicPr>
        <p:blipFill>
          <a:blip r:embed="rId6"/>
          <a:stretch>
            <a:fillRect/>
          </a:stretch>
        </p:blipFill>
        <p:spPr>
          <a:xfrm>
            <a:off x="4343400" y="4039362"/>
            <a:ext cx="3474720" cy="1954530"/>
          </a:xfrm>
          <a:prstGeom prst="rect">
            <a:avLst/>
          </a:prstGeom>
        </p:spPr>
      </p:pic>
      <p:sp>
        <p:nvSpPr>
          <p:cNvPr id="23" name="Text 15"/>
          <p:cNvSpPr txBox="1"/>
          <p:nvPr/>
        </p:nvSpPr>
        <p:spPr>
          <a:xfrm>
            <a:off x="434340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4 · Student — Home carries the line</a:t>
            </a:r>
            <a:endParaRPr lang="en-US" sz="1050" dirty="0"/>
          </a:p>
        </p:txBody>
      </p:sp>
      <p:sp>
        <p:nvSpPr>
          <p:cNvPr id="24" name="Shape 16"/>
          <p:cNvSpPr/>
          <p:nvPr/>
        </p:nvSpPr>
        <p:spPr>
          <a:xfrm>
            <a:off x="809244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5" name="Image 6" descr="preencoded.png">    </p:cNvPr>
          <p:cNvPicPr>
            <a:picLocks noChangeAspect="1"/>
          </p:cNvPicPr>
          <p:nvPr/>
        </p:nvPicPr>
        <p:blipFill>
          <a:blip r:embed="rId7"/>
          <a:stretch>
            <a:fillRect/>
          </a:stretch>
        </p:blipFill>
        <p:spPr>
          <a:xfrm>
            <a:off x="8138160" y="4039362"/>
            <a:ext cx="3474720" cy="1954530"/>
          </a:xfrm>
          <a:prstGeom prst="rect">
            <a:avLst/>
          </a:prstGeom>
        </p:spPr>
      </p:pic>
      <p:sp>
        <p:nvSpPr>
          <p:cNvPr id="26" name="Text 17"/>
          <p:cNvSpPr txBox="1"/>
          <p:nvPr/>
        </p:nvSpPr>
        <p:spPr>
          <a:xfrm>
            <a:off x="813816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4 · Student — the new posting with a match %</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77240" y="822960"/>
            <a:ext cx="822960" cy="822960"/>
          </a:xfrm>
          <a:prstGeom prst="rect">
            <a:avLst/>
          </a:prstGeom>
        </p:spPr>
      </p:pic>
      <p:sp>
        <p:nvSpPr>
          <p:cNvPr id="3" name="Text 0"/>
          <p:cNvSpPr txBox="1"/>
          <p:nvPr/>
        </p:nvSpPr>
        <p:spPr>
          <a:xfrm>
            <a:off x="731520" y="1737360"/>
            <a:ext cx="10515600" cy="1188720"/>
          </a:xfrm>
          <a:prstGeom prst="rect">
            <a:avLst/>
          </a:prstGeom>
          <a:noFill/>
          <a:ln/>
        </p:spPr>
        <p:txBody>
          <a:bodyPr wrap="square" lIns="0" tIns="0" rIns="0" bIns="0" rtlCol="0" anchor="b"/>
          <a:lstStyle/>
          <a:p>
            <a:pPr indent="0" marL="0">
              <a:buNone/>
            </a:pPr>
            <a:r>
              <a:rPr lang="en-US" sz="4600" b="1" dirty="0">
                <a:solidFill>
                  <a:srgbClr val="FFFFFF"/>
                </a:solidFill>
                <a:latin typeface="Calibri" pitchFamily="34" charset="0"/>
                <a:ea typeface="Calibri" pitchFamily="34" charset="-122"/>
                <a:cs typeface="Calibri" pitchFamily="34" charset="-120"/>
              </a:rPr>
              <a:t>A new student's journey</a:t>
            </a:r>
            <a:endParaRPr lang="en-US" sz="4600" dirty="0"/>
          </a:p>
        </p:txBody>
      </p:sp>
      <p:sp>
        <p:nvSpPr>
          <p:cNvPr id="4" name="Text 1"/>
          <p:cNvSpPr txBox="1"/>
          <p:nvPr/>
        </p:nvSpPr>
        <p:spPr>
          <a:xfrm>
            <a:off x="731520" y="3017520"/>
            <a:ext cx="10241280" cy="1188720"/>
          </a:xfrm>
          <a:prstGeom prst="rect">
            <a:avLst/>
          </a:prstGeom>
          <a:noFill/>
          <a:ln/>
        </p:spPr>
        <p:txBody>
          <a:bodyPr wrap="square" lIns="0" tIns="0" rIns="0" bIns="0" rtlCol="0" anchor="t"/>
          <a:lstStyle/>
          <a:p>
            <a:pPr indent="0" marL="0">
              <a:buNone/>
            </a:pPr>
            <a:r>
              <a:rPr lang="en-US" sz="1800" dirty="0">
                <a:solidFill>
                  <a:srgbClr val="F3E8FF"/>
                </a:solidFill>
                <a:latin typeface="Calibri" pitchFamily="34" charset="0"/>
                <a:ea typeface="Calibri" pitchFamily="34" charset="-122"/>
                <a:cs typeface="Calibri" pitchFamily="34" charset="-120"/>
              </a:rPr>
              <a:t>Apply on the public form → the office approves → the emailed link's three steps (address, code, password) → first sign-in → the office assigns a faculty mentor → the mentor sees the new mentee.</a:t>
            </a:r>
            <a:endParaRPr lang="en-US" sz="1800" dirty="0"/>
          </a:p>
        </p:txBody>
      </p:sp>
      <p:sp>
        <p:nvSpPr>
          <p:cNvPr id="5" name="Text 2"/>
          <p:cNvSpPr txBox="1"/>
          <p:nvPr/>
        </p:nvSpPr>
        <p:spPr>
          <a:xfrm>
            <a:off x="777240" y="4343400"/>
            <a:ext cx="7498080" cy="201168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Priya Menon applies with USN, phone, personal email, LinkedIn, CV and photo — every box compulsory except Specialization</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The application is in the queue immediately; no email gate in between</a:t>
            </a:r>
            <a:endParaRPr lang="en-US" sz="1400" dirty="0"/>
          </a:p>
          <a:p>
            <a:pPr marL="152400" indent="-152400">
              <a:spcAft>
                <a:spcPts val="500"/>
              </a:spcAft>
              <a:buSzPct val="100000"/>
              <a:buChar char="•"/>
            </a:pPr>
            <a:r>
              <a:rPr lang="en-US" sz="1400" dirty="0">
                <a:solidFill>
                  <a:srgbClr val="F3E8FF"/>
                </a:solidFill>
                <a:latin typeface="Calibri" pitchFamily="34" charset="0"/>
                <a:ea typeface="Calibri" pitchFamily="34" charset="-122"/>
                <a:cs typeface="Calibri" pitchFamily="34" charset="-120"/>
              </a:rPr>
              <a:t>The link proves the mail was opened, the code proves the mailbox is readable now, the ticket the code earns is the only thing that sets the password</a:t>
            </a:r>
            <a:endParaRPr lang="en-US" sz="1400" dirty="0"/>
          </a:p>
        </p:txBody>
      </p:sp>
      <p:sp>
        <p:nvSpPr>
          <p:cNvPr id="6" name="Shape 3"/>
          <p:cNvSpPr/>
          <p:nvPr/>
        </p:nvSpPr>
        <p:spPr>
          <a:xfrm>
            <a:off x="8549640" y="4434840"/>
            <a:ext cx="3017520" cy="1097280"/>
          </a:xfrm>
          <a:prstGeom prst="roundRect">
            <a:avLst>
              <a:gd name="adj" fmla="val 13333"/>
            </a:avLst>
          </a:prstGeom>
          <a:solidFill>
            <a:srgbClr val="FFFFFF"/>
          </a:solidFill>
          <a:ln w="12700">
            <a:solidFill>
              <a:srgbClr val="FFFFFF"/>
            </a:solidFill>
            <a:prstDash val="solid"/>
          </a:ln>
        </p:spPr>
      </p:sp>
      <p:pic>
        <p:nvPicPr>
          <p:cNvPr id="7" name="Image 1" descr="preencoded.png">    </p:cNvPr>
          <p:cNvPicPr>
            <a:picLocks noChangeAspect="1"/>
          </p:cNvPicPr>
          <p:nvPr/>
        </p:nvPicPr>
        <p:blipFill>
          <a:blip r:embed="rId3"/>
          <a:stretch>
            <a:fillRect/>
          </a:stretch>
        </p:blipFill>
        <p:spPr>
          <a:xfrm>
            <a:off x="8732520" y="4636008"/>
            <a:ext cx="457200" cy="457200"/>
          </a:xfrm>
          <a:prstGeom prst="rect">
            <a:avLst/>
          </a:prstGeom>
        </p:spPr>
      </p:pic>
      <p:sp>
        <p:nvSpPr>
          <p:cNvPr id="8" name="Text 4"/>
          <p:cNvSpPr txBox="1"/>
          <p:nvPr/>
        </p:nvSpPr>
        <p:spPr>
          <a:xfrm>
            <a:off x="9281160" y="4480560"/>
            <a:ext cx="2240280" cy="1005840"/>
          </a:xfrm>
          <a:prstGeom prst="rect">
            <a:avLst/>
          </a:prstGeom>
          <a:noFill/>
          <a:ln/>
        </p:spPr>
        <p:txBody>
          <a:bodyPr wrap="square" lIns="0" tIns="0" rIns="0" bIns="0" rtlCol="0" anchor="ctr"/>
          <a:lstStyle/>
          <a:p>
            <a:pPr indent="0" marL="0">
              <a:buNone/>
            </a:pPr>
            <a:r>
              <a:rPr lang="en-US" sz="1200" b="1" dirty="0">
                <a:solidFill>
                  <a:srgbClr val="1E1338"/>
                </a:solidFill>
                <a:latin typeface="Calibri" pitchFamily="34" charset="0"/>
                <a:ea typeface="Calibri" pitchFamily="34" charset="-122"/>
                <a:cs typeface="Calibri" pitchFamily="34" charset="-120"/>
              </a:rPr>
              <a:t>Video</a:t>
            </a:r>
            <a:endParaRPr lang="en-US" sz="1200" dirty="0"/>
          </a:p>
          <a:p>
            <a:pPr indent="0" marL="0">
              <a:buNone/>
            </a:pPr>
            <a:r>
              <a:rPr lang="en-US" sz="1200" dirty="0">
                <a:solidFill>
                  <a:srgbClr val="1E1338"/>
                </a:solidFill>
                <a:latin typeface="Calibri" pitchFamily="34" charset="0"/>
                <a:ea typeface="Calibri" pitchFamily="34" charset="-122"/>
                <a:cs typeface="Calibri" pitchFamily="34" charset="-120"/>
              </a:rPr>
              <a:t>onboarding.mp4 · 3:18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29</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From application to mentee — six steps, three roles</a:t>
            </a:r>
            <a:endParaRPr lang="en-US" sz="3000" dirty="0"/>
          </a:p>
        </p:txBody>
      </p:sp>
      <p:sp>
        <p:nvSpPr>
          <p:cNvPr id="5" name="Shape 3"/>
          <p:cNvSpPr/>
          <p:nvPr/>
        </p:nvSpPr>
        <p:spPr>
          <a:xfrm>
            <a:off x="502920" y="1234440"/>
            <a:ext cx="3520440" cy="2011680"/>
          </a:xfrm>
          <a:prstGeom prst="roundRect">
            <a:avLst>
              <a:gd name="adj" fmla="val 5455"/>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6" name="Shape 4"/>
          <p:cNvSpPr/>
          <p:nvPr/>
        </p:nvSpPr>
        <p:spPr>
          <a:xfrm>
            <a:off x="640080" y="1371600"/>
            <a:ext cx="384048" cy="384048"/>
          </a:xfrm>
          <a:prstGeom prst="ellipse">
            <a:avLst/>
          </a:prstGeom>
          <a:solidFill>
            <a:srgbClr val="4C1D95"/>
          </a:solidFill>
          <a:ln w="12700">
            <a:solidFill>
              <a:srgbClr val="4C1D95"/>
            </a:solidFill>
            <a:prstDash val="solid"/>
          </a:ln>
        </p:spPr>
      </p:sp>
      <p:sp>
        <p:nvSpPr>
          <p:cNvPr id="7" name="Text 5"/>
          <p:cNvSpPr txBox="1"/>
          <p:nvPr/>
        </p:nvSpPr>
        <p:spPr>
          <a:xfrm>
            <a:off x="64008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24712" y="1389888"/>
            <a:ext cx="2788920" cy="219456"/>
          </a:xfrm>
          <a:prstGeom prst="rect">
            <a:avLst/>
          </a:prstGeom>
          <a:noFill/>
          <a:ln/>
        </p:spPr>
        <p:txBody>
          <a:bodyPr wrap="square" lIns="0" tIns="0" rIns="0" bIns="0" rtlCol="0" anchor="ctr"/>
          <a:lstStyle/>
          <a:p>
            <a:pPr indent="0" marL="0">
              <a:buNone/>
            </a:pPr>
            <a:r>
              <a:rPr lang="en-US" sz="850" b="1" spc="100" kern="0" dirty="0">
                <a:solidFill>
                  <a:srgbClr val="4C1D95"/>
                </a:solidFill>
                <a:latin typeface="Calibri" pitchFamily="34" charset="0"/>
                <a:ea typeface="Calibri" pitchFamily="34" charset="-122"/>
                <a:cs typeface="Calibri" pitchFamily="34" charset="-120"/>
              </a:rPr>
              <a:t>APPLICANT</a:t>
            </a:r>
            <a:endParaRPr lang="en-US" sz="850" dirty="0"/>
          </a:p>
        </p:txBody>
      </p:sp>
      <p:sp>
        <p:nvSpPr>
          <p:cNvPr id="9" name="Text 7"/>
          <p:cNvSpPr txBox="1"/>
          <p:nvPr/>
        </p:nvSpPr>
        <p:spPr>
          <a:xfrm>
            <a:off x="1124712" y="16002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Apply</a:t>
            </a:r>
            <a:endParaRPr lang="en-US" sz="1250" dirty="0"/>
          </a:p>
        </p:txBody>
      </p:sp>
      <p:sp>
        <p:nvSpPr>
          <p:cNvPr id="10" name="Text 8"/>
          <p:cNvSpPr txBox="1"/>
          <p:nvPr/>
        </p:nvSpPr>
        <p:spPr>
          <a:xfrm>
            <a:off x="640080" y="2103120"/>
            <a:ext cx="3246120" cy="10515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/register: name, USN, college and personal email, phone, LinkedIn, the spine, CV and photo. Files are checked before the application is created.</a:t>
            </a:r>
            <a:endParaRPr lang="en-US" sz="1050" dirty="0"/>
          </a:p>
        </p:txBody>
      </p:sp>
      <p:sp>
        <p:nvSpPr>
          <p:cNvPr id="11" name="Shape 9"/>
          <p:cNvSpPr/>
          <p:nvPr/>
        </p:nvSpPr>
        <p:spPr>
          <a:xfrm>
            <a:off x="4023360" y="2240280"/>
            <a:ext cx="320040" cy="9144"/>
          </a:xfrm>
          <a:prstGeom prst="line">
            <a:avLst/>
          </a:prstGeom>
          <a:noFill/>
          <a:ln w="22225">
            <a:solidFill>
              <a:srgbClr val="6D28D9"/>
            </a:solidFill>
            <a:prstDash val="solid"/>
            <a:tailEnd type="triangle"/>
          </a:ln>
        </p:spPr>
      </p:sp>
      <p:sp>
        <p:nvSpPr>
          <p:cNvPr id="12" name="Shape 10"/>
          <p:cNvSpPr/>
          <p:nvPr/>
        </p:nvSpPr>
        <p:spPr>
          <a:xfrm>
            <a:off x="4343400" y="1234440"/>
            <a:ext cx="3520440" cy="2011680"/>
          </a:xfrm>
          <a:prstGeom prst="roundRect">
            <a:avLst>
              <a:gd name="adj" fmla="val 5455"/>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13" name="Shape 11"/>
          <p:cNvSpPr/>
          <p:nvPr/>
        </p:nvSpPr>
        <p:spPr>
          <a:xfrm>
            <a:off x="4480560" y="1371600"/>
            <a:ext cx="384048" cy="384048"/>
          </a:xfrm>
          <a:prstGeom prst="ellipse">
            <a:avLst/>
          </a:prstGeom>
          <a:solidFill>
            <a:srgbClr val="DB2777"/>
          </a:solidFill>
          <a:ln w="12700">
            <a:solidFill>
              <a:srgbClr val="DB2777"/>
            </a:solidFill>
            <a:prstDash val="solid"/>
          </a:ln>
        </p:spPr>
      </p:sp>
      <p:sp>
        <p:nvSpPr>
          <p:cNvPr id="14" name="Text 12"/>
          <p:cNvSpPr txBox="1"/>
          <p:nvPr/>
        </p:nvSpPr>
        <p:spPr>
          <a:xfrm>
            <a:off x="448056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4965192" y="1389888"/>
            <a:ext cx="2788920" cy="219456"/>
          </a:xfrm>
          <a:prstGeom prst="rect">
            <a:avLst/>
          </a:prstGeom>
          <a:noFill/>
          <a:ln/>
        </p:spPr>
        <p:txBody>
          <a:bodyPr wrap="square" lIns="0" tIns="0" rIns="0" bIns="0" rtlCol="0" anchor="ctr"/>
          <a:lstStyle/>
          <a:p>
            <a:pPr indent="0" marL="0">
              <a:buNone/>
            </a:pPr>
            <a:r>
              <a:rPr lang="en-US" sz="850" b="1" spc="100" kern="0" dirty="0">
                <a:solidFill>
                  <a:srgbClr val="DB2777"/>
                </a:solidFill>
                <a:latin typeface="Calibri" pitchFamily="34" charset="0"/>
                <a:ea typeface="Calibri" pitchFamily="34" charset="-122"/>
                <a:cs typeface="Calibri" pitchFamily="34" charset="-120"/>
              </a:rPr>
              <a:t>MAIN ADMIN</a:t>
            </a:r>
            <a:endParaRPr lang="en-US" sz="850" dirty="0"/>
          </a:p>
        </p:txBody>
      </p:sp>
      <p:sp>
        <p:nvSpPr>
          <p:cNvPr id="16" name="Text 14"/>
          <p:cNvSpPr txBox="1"/>
          <p:nvPr/>
        </p:nvSpPr>
        <p:spPr>
          <a:xfrm>
            <a:off x="4965192" y="16002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Approve</a:t>
            </a:r>
            <a:endParaRPr lang="en-US" sz="1250" dirty="0"/>
          </a:p>
        </p:txBody>
      </p:sp>
      <p:sp>
        <p:nvSpPr>
          <p:cNvPr id="17" name="Text 15"/>
          <p:cNvSpPr txBox="1"/>
          <p:nvPr/>
        </p:nvSpPr>
        <p:spPr>
          <a:xfrm>
            <a:off x="4480560" y="2103120"/>
            <a:ext cx="3246120" cy="10515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New applications: the checklist runs; Approve provisions User + Student + profile and emails “Your REEP account is approved — set it up”.</a:t>
            </a:r>
            <a:endParaRPr lang="en-US" sz="1050" dirty="0"/>
          </a:p>
        </p:txBody>
      </p:sp>
      <p:sp>
        <p:nvSpPr>
          <p:cNvPr id="18" name="Shape 16"/>
          <p:cNvSpPr/>
          <p:nvPr/>
        </p:nvSpPr>
        <p:spPr>
          <a:xfrm>
            <a:off x="7863840" y="2240280"/>
            <a:ext cx="320040" cy="9144"/>
          </a:xfrm>
          <a:prstGeom prst="line">
            <a:avLst/>
          </a:prstGeom>
          <a:noFill/>
          <a:ln w="22225">
            <a:solidFill>
              <a:srgbClr val="6D28D9"/>
            </a:solidFill>
            <a:prstDash val="solid"/>
            <a:tailEnd type="triangle"/>
          </a:ln>
        </p:spPr>
      </p:sp>
      <p:sp>
        <p:nvSpPr>
          <p:cNvPr id="19" name="Shape 17"/>
          <p:cNvSpPr/>
          <p:nvPr/>
        </p:nvSpPr>
        <p:spPr>
          <a:xfrm>
            <a:off x="8183880" y="1234440"/>
            <a:ext cx="3520440" cy="2011680"/>
          </a:xfrm>
          <a:prstGeom prst="roundRect">
            <a:avLst>
              <a:gd name="adj" fmla="val 5455"/>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20" name="Shape 18"/>
          <p:cNvSpPr/>
          <p:nvPr/>
        </p:nvSpPr>
        <p:spPr>
          <a:xfrm>
            <a:off x="8321040" y="1371600"/>
            <a:ext cx="384048" cy="384048"/>
          </a:xfrm>
          <a:prstGeom prst="ellipse">
            <a:avLst/>
          </a:prstGeom>
          <a:solidFill>
            <a:srgbClr val="4C1D95"/>
          </a:solidFill>
          <a:ln w="12700">
            <a:solidFill>
              <a:srgbClr val="4C1D95"/>
            </a:solidFill>
            <a:prstDash val="solid"/>
          </a:ln>
        </p:spPr>
      </p:sp>
      <p:sp>
        <p:nvSpPr>
          <p:cNvPr id="21" name="Text 19"/>
          <p:cNvSpPr txBox="1"/>
          <p:nvPr/>
        </p:nvSpPr>
        <p:spPr>
          <a:xfrm>
            <a:off x="8321040" y="1371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8805672" y="1389888"/>
            <a:ext cx="2788920" cy="219456"/>
          </a:xfrm>
          <a:prstGeom prst="rect">
            <a:avLst/>
          </a:prstGeom>
          <a:noFill/>
          <a:ln/>
        </p:spPr>
        <p:txBody>
          <a:bodyPr wrap="square" lIns="0" tIns="0" rIns="0" bIns="0" rtlCol="0" anchor="ctr"/>
          <a:lstStyle/>
          <a:p>
            <a:pPr indent="0" marL="0">
              <a:buNone/>
            </a:pPr>
            <a:r>
              <a:rPr lang="en-US" sz="850" b="1" spc="100" kern="0" dirty="0">
                <a:solidFill>
                  <a:srgbClr val="4C1D95"/>
                </a:solidFill>
                <a:latin typeface="Calibri" pitchFamily="34" charset="0"/>
                <a:ea typeface="Calibri" pitchFamily="34" charset="-122"/>
                <a:cs typeface="Calibri" pitchFamily="34" charset="-120"/>
              </a:rPr>
              <a:t>APPLICANT</a:t>
            </a:r>
            <a:endParaRPr lang="en-US" sz="850" dirty="0"/>
          </a:p>
        </p:txBody>
      </p:sp>
      <p:sp>
        <p:nvSpPr>
          <p:cNvPr id="23" name="Text 21"/>
          <p:cNvSpPr txBox="1"/>
          <p:nvPr/>
        </p:nvSpPr>
        <p:spPr>
          <a:xfrm>
            <a:off x="8805672" y="16002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Set up</a:t>
            </a:r>
            <a:endParaRPr lang="en-US" sz="1250" dirty="0"/>
          </a:p>
        </p:txBody>
      </p:sp>
      <p:sp>
        <p:nvSpPr>
          <p:cNvPr id="24" name="Text 22"/>
          <p:cNvSpPr txBox="1"/>
          <p:nvPr/>
        </p:nvSpPr>
        <p:spPr>
          <a:xfrm>
            <a:off x="8321040" y="2103120"/>
            <a:ext cx="3246120" cy="10515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/onboard?token=…: type the address → a six-digit code is mailed → confirm → set the password with the 15-minute ticket. Signs nobody in.</a:t>
            </a:r>
            <a:endParaRPr lang="en-US" sz="1050" dirty="0"/>
          </a:p>
        </p:txBody>
      </p:sp>
      <p:sp>
        <p:nvSpPr>
          <p:cNvPr id="25" name="Shape 23"/>
          <p:cNvSpPr/>
          <p:nvPr/>
        </p:nvSpPr>
        <p:spPr>
          <a:xfrm>
            <a:off x="502920" y="3520440"/>
            <a:ext cx="3520440" cy="2011680"/>
          </a:xfrm>
          <a:prstGeom prst="roundRect">
            <a:avLst>
              <a:gd name="adj" fmla="val 5455"/>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26" name="Shape 24"/>
          <p:cNvSpPr/>
          <p:nvPr/>
        </p:nvSpPr>
        <p:spPr>
          <a:xfrm>
            <a:off x="640080" y="3657600"/>
            <a:ext cx="384048" cy="384048"/>
          </a:xfrm>
          <a:prstGeom prst="ellipse">
            <a:avLst/>
          </a:prstGeom>
          <a:solidFill>
            <a:srgbClr val="6D28D9"/>
          </a:solidFill>
          <a:ln w="12700">
            <a:solidFill>
              <a:srgbClr val="6D28D9"/>
            </a:solidFill>
            <a:prstDash val="solid"/>
          </a:ln>
        </p:spPr>
      </p:sp>
      <p:sp>
        <p:nvSpPr>
          <p:cNvPr id="27" name="Text 25"/>
          <p:cNvSpPr txBox="1"/>
          <p:nvPr/>
        </p:nvSpPr>
        <p:spPr>
          <a:xfrm>
            <a:off x="64008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1124712" y="3675888"/>
            <a:ext cx="2788920" cy="219456"/>
          </a:xfrm>
          <a:prstGeom prst="rect">
            <a:avLst/>
          </a:prstGeom>
          <a:noFill/>
          <a:ln/>
        </p:spPr>
        <p:txBody>
          <a:bodyPr wrap="square" lIns="0" tIns="0" rIns="0" bIns="0" rtlCol="0" anchor="ctr"/>
          <a:lstStyle/>
          <a:p>
            <a:pPr indent="0" marL="0">
              <a:buNone/>
            </a:pPr>
            <a:r>
              <a:rPr lang="en-US" sz="850" b="1" spc="100" kern="0" dirty="0">
                <a:solidFill>
                  <a:srgbClr val="6D28D9"/>
                </a:solidFill>
                <a:latin typeface="Calibri" pitchFamily="34" charset="0"/>
                <a:ea typeface="Calibri" pitchFamily="34" charset="-122"/>
                <a:cs typeface="Calibri" pitchFamily="34" charset="-120"/>
              </a:rPr>
              <a:t>STUDENT</a:t>
            </a:r>
            <a:endParaRPr lang="en-US" sz="850" dirty="0"/>
          </a:p>
        </p:txBody>
      </p:sp>
      <p:sp>
        <p:nvSpPr>
          <p:cNvPr id="29" name="Text 27"/>
          <p:cNvSpPr txBox="1"/>
          <p:nvPr/>
        </p:nvSpPr>
        <p:spPr>
          <a:xfrm>
            <a:off x="1124712" y="38862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First sign-in</a:t>
            </a:r>
            <a:endParaRPr lang="en-US" sz="1250" dirty="0"/>
          </a:p>
        </p:txBody>
      </p:sp>
      <p:sp>
        <p:nvSpPr>
          <p:cNvPr id="30" name="Text 28"/>
          <p:cNvSpPr txBox="1"/>
          <p:nvPr/>
        </p:nvSpPr>
        <p:spPr>
          <a:xfrm>
            <a:off x="640080" y="4389120"/>
            <a:ext cx="3246120" cy="10515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The ordinary front door: limiter, revocation and the one-device rule all apply. Home and the filled-in Profile card.</a:t>
            </a:r>
            <a:endParaRPr lang="en-US" sz="1050" dirty="0"/>
          </a:p>
        </p:txBody>
      </p:sp>
      <p:sp>
        <p:nvSpPr>
          <p:cNvPr id="31" name="Shape 29"/>
          <p:cNvSpPr/>
          <p:nvPr/>
        </p:nvSpPr>
        <p:spPr>
          <a:xfrm>
            <a:off x="4023360" y="4526280"/>
            <a:ext cx="320040" cy="9144"/>
          </a:xfrm>
          <a:prstGeom prst="line">
            <a:avLst/>
          </a:prstGeom>
          <a:noFill/>
          <a:ln w="22225">
            <a:solidFill>
              <a:srgbClr val="6D28D9"/>
            </a:solidFill>
            <a:prstDash val="solid"/>
            <a:tailEnd type="triangle"/>
          </a:ln>
        </p:spPr>
      </p:sp>
      <p:sp>
        <p:nvSpPr>
          <p:cNvPr id="32" name="Shape 30"/>
          <p:cNvSpPr/>
          <p:nvPr/>
        </p:nvSpPr>
        <p:spPr>
          <a:xfrm>
            <a:off x="4343400" y="3520440"/>
            <a:ext cx="3520440" cy="2011680"/>
          </a:xfrm>
          <a:prstGeom prst="roundRect">
            <a:avLst>
              <a:gd name="adj" fmla="val 5455"/>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33" name="Shape 31"/>
          <p:cNvSpPr/>
          <p:nvPr/>
        </p:nvSpPr>
        <p:spPr>
          <a:xfrm>
            <a:off x="4480560" y="3657600"/>
            <a:ext cx="384048" cy="384048"/>
          </a:xfrm>
          <a:prstGeom prst="ellipse">
            <a:avLst/>
          </a:prstGeom>
          <a:solidFill>
            <a:srgbClr val="DB2777"/>
          </a:solidFill>
          <a:ln w="12700">
            <a:solidFill>
              <a:srgbClr val="DB2777"/>
            </a:solidFill>
            <a:prstDash val="solid"/>
          </a:ln>
        </p:spPr>
      </p:sp>
      <p:sp>
        <p:nvSpPr>
          <p:cNvPr id="34" name="Text 32"/>
          <p:cNvSpPr txBox="1"/>
          <p:nvPr/>
        </p:nvSpPr>
        <p:spPr>
          <a:xfrm>
            <a:off x="448056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3"/>
          <p:cNvSpPr txBox="1"/>
          <p:nvPr/>
        </p:nvSpPr>
        <p:spPr>
          <a:xfrm>
            <a:off x="4965192" y="3675888"/>
            <a:ext cx="2788920" cy="219456"/>
          </a:xfrm>
          <a:prstGeom prst="rect">
            <a:avLst/>
          </a:prstGeom>
          <a:noFill/>
          <a:ln/>
        </p:spPr>
        <p:txBody>
          <a:bodyPr wrap="square" lIns="0" tIns="0" rIns="0" bIns="0" rtlCol="0" anchor="ctr"/>
          <a:lstStyle/>
          <a:p>
            <a:pPr indent="0" marL="0">
              <a:buNone/>
            </a:pPr>
            <a:r>
              <a:rPr lang="en-US" sz="850" b="1" spc="100" kern="0" dirty="0">
                <a:solidFill>
                  <a:srgbClr val="DB2777"/>
                </a:solidFill>
                <a:latin typeface="Calibri" pitchFamily="34" charset="0"/>
                <a:ea typeface="Calibri" pitchFamily="34" charset="-122"/>
                <a:cs typeface="Calibri" pitchFamily="34" charset="-120"/>
              </a:rPr>
              <a:t>MAIN ADMIN</a:t>
            </a:r>
            <a:endParaRPr lang="en-US" sz="850" dirty="0"/>
          </a:p>
        </p:txBody>
      </p:sp>
      <p:sp>
        <p:nvSpPr>
          <p:cNvPr id="36" name="Text 34"/>
          <p:cNvSpPr txBox="1"/>
          <p:nvPr/>
        </p:nvSpPr>
        <p:spPr>
          <a:xfrm>
            <a:off x="4965192" y="38862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Assign faculty</a:t>
            </a:r>
            <a:endParaRPr lang="en-US" sz="1250" dirty="0"/>
          </a:p>
        </p:txBody>
      </p:sp>
      <p:sp>
        <p:nvSpPr>
          <p:cNvPr id="37" name="Text 35"/>
          <p:cNvSpPr txBox="1"/>
          <p:nvPr/>
        </p:nvSpPr>
        <p:spPr>
          <a:xfrm>
            <a:off x="4480560" y="4389120"/>
            <a:ext cx="3246120" cy="10515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Pick the mentor, tick the new student in the pool, write the reason. The group now scopes every mentee screen.</a:t>
            </a:r>
            <a:endParaRPr lang="en-US" sz="1050" dirty="0"/>
          </a:p>
        </p:txBody>
      </p:sp>
      <p:sp>
        <p:nvSpPr>
          <p:cNvPr id="38" name="Shape 36"/>
          <p:cNvSpPr/>
          <p:nvPr/>
        </p:nvSpPr>
        <p:spPr>
          <a:xfrm>
            <a:off x="7863840" y="4526280"/>
            <a:ext cx="320040" cy="9144"/>
          </a:xfrm>
          <a:prstGeom prst="line">
            <a:avLst/>
          </a:prstGeom>
          <a:noFill/>
          <a:ln w="22225">
            <a:solidFill>
              <a:srgbClr val="6D28D9"/>
            </a:solidFill>
            <a:prstDash val="solid"/>
            <a:tailEnd type="triangle"/>
          </a:ln>
        </p:spPr>
      </p:sp>
      <p:sp>
        <p:nvSpPr>
          <p:cNvPr id="39" name="Shape 37"/>
          <p:cNvSpPr/>
          <p:nvPr/>
        </p:nvSpPr>
        <p:spPr>
          <a:xfrm>
            <a:off x="8183880" y="3520440"/>
            <a:ext cx="3520440" cy="2011680"/>
          </a:xfrm>
          <a:prstGeom prst="roundRect">
            <a:avLst>
              <a:gd name="adj" fmla="val 5455"/>
            </a:avLst>
          </a:prstGeom>
          <a:solidFill>
            <a:srgbClr val="F7F4FC"/>
          </a:solidFill>
          <a:ln w="9525">
            <a:solidFill>
              <a:srgbClr val="D9D0EA"/>
            </a:solidFill>
            <a:prstDash val="solid"/>
          </a:ln>
          <a:effectLst>
            <a:outerShdw sx="100000" sy="100000" kx="0" ky="0" algn="bl" rotWithShape="0" blurRad="63500" dist="25400" dir="3600000">
              <a:srgbClr val="1E1338">
                <a:alpha val="14000"/>
              </a:srgbClr>
            </a:outerShdw>
          </a:effectLst>
        </p:spPr>
      </p:sp>
      <p:sp>
        <p:nvSpPr>
          <p:cNvPr id="40" name="Shape 38"/>
          <p:cNvSpPr/>
          <p:nvPr/>
        </p:nvSpPr>
        <p:spPr>
          <a:xfrm>
            <a:off x="8321040" y="3657600"/>
            <a:ext cx="384048" cy="384048"/>
          </a:xfrm>
          <a:prstGeom prst="ellipse">
            <a:avLst/>
          </a:prstGeom>
          <a:solidFill>
            <a:srgbClr val="0F766E"/>
          </a:solidFill>
          <a:ln w="12700">
            <a:solidFill>
              <a:srgbClr val="0F766E"/>
            </a:solidFill>
            <a:prstDash val="solid"/>
          </a:ln>
        </p:spPr>
      </p:sp>
      <p:sp>
        <p:nvSpPr>
          <p:cNvPr id="41" name="Text 39"/>
          <p:cNvSpPr txBox="1"/>
          <p:nvPr/>
        </p:nvSpPr>
        <p:spPr>
          <a:xfrm>
            <a:off x="8321040" y="3657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2" name="Text 40"/>
          <p:cNvSpPr txBox="1"/>
          <p:nvPr/>
        </p:nvSpPr>
        <p:spPr>
          <a:xfrm>
            <a:off x="8805672" y="3675888"/>
            <a:ext cx="2788920" cy="219456"/>
          </a:xfrm>
          <a:prstGeom prst="rect">
            <a:avLst/>
          </a:prstGeom>
          <a:noFill/>
          <a:ln/>
        </p:spPr>
        <p:txBody>
          <a:bodyPr wrap="square" lIns="0" tIns="0" rIns="0" bIns="0" rtlCol="0" anchor="ctr"/>
          <a:lstStyle/>
          <a:p>
            <a:pPr indent="0" marL="0">
              <a:buNone/>
            </a:pPr>
            <a:r>
              <a:rPr lang="en-US" sz="850" b="1" spc="100" kern="0" dirty="0">
                <a:solidFill>
                  <a:srgbClr val="0F766E"/>
                </a:solidFill>
                <a:latin typeface="Calibri" pitchFamily="34" charset="0"/>
                <a:ea typeface="Calibri" pitchFamily="34" charset="-122"/>
                <a:cs typeface="Calibri" pitchFamily="34" charset="-120"/>
              </a:rPr>
              <a:t>FACULTY</a:t>
            </a:r>
            <a:endParaRPr lang="en-US" sz="850" dirty="0"/>
          </a:p>
        </p:txBody>
      </p:sp>
      <p:sp>
        <p:nvSpPr>
          <p:cNvPr id="43" name="Text 41"/>
          <p:cNvSpPr txBox="1"/>
          <p:nvPr/>
        </p:nvSpPr>
        <p:spPr>
          <a:xfrm>
            <a:off x="8805672" y="3886200"/>
            <a:ext cx="2788920" cy="457200"/>
          </a:xfrm>
          <a:prstGeom prst="rect">
            <a:avLst/>
          </a:prstGeom>
          <a:noFill/>
          <a:ln/>
        </p:spPr>
        <p:txBody>
          <a:bodyPr wrap="square" lIns="0" tIns="0" rIns="0" bIns="0" rtlCol="0" anchor="t"/>
          <a:lstStyle/>
          <a:p>
            <a:pPr indent="0" marL="0">
              <a:buNone/>
            </a:pPr>
            <a:r>
              <a:rPr lang="en-US" sz="1250" b="1" dirty="0">
                <a:solidFill>
                  <a:srgbClr val="1E1338"/>
                </a:solidFill>
                <a:latin typeface="Calibri" pitchFamily="34" charset="0"/>
                <a:ea typeface="Calibri" pitchFamily="34" charset="-122"/>
                <a:cs typeface="Calibri" pitchFamily="34" charset="-120"/>
              </a:rPr>
              <a:t>Sees the mentee</a:t>
            </a:r>
            <a:endParaRPr lang="en-US" sz="1250" dirty="0"/>
          </a:p>
        </p:txBody>
      </p:sp>
      <p:sp>
        <p:nvSpPr>
          <p:cNvPr id="44" name="Text 42"/>
          <p:cNvSpPr txBox="1"/>
          <p:nvPr/>
        </p:nvSpPr>
        <p:spPr>
          <a:xfrm>
            <a:off x="8321040" y="4389120"/>
            <a:ext cx="3246120" cy="1051560"/>
          </a:xfrm>
          <a:prstGeom prst="rect">
            <a:avLst/>
          </a:prstGeom>
          <a:noFill/>
          <a:ln/>
        </p:spPr>
        <p:txBody>
          <a:bodyPr wrap="square" lIns="0" tIns="0" rIns="0" bIns="0" rtlCol="0" anchor="t"/>
          <a:lstStyle/>
          <a:p>
            <a:pPr indent="0" marL="0">
              <a:buNone/>
            </a:pPr>
            <a:r>
              <a:rPr lang="en-US" sz="1050" dirty="0">
                <a:solidFill>
                  <a:srgbClr val="2B2340"/>
                </a:solidFill>
                <a:latin typeface="Calibri" pitchFamily="34" charset="0"/>
                <a:ea typeface="Calibri" pitchFamily="34" charset="-122"/>
                <a:cs typeface="Calibri" pitchFamily="34" charset="-120"/>
              </a:rPr>
              <a:t>Mentee Log lists the new student — and nobody the faculty member does not mentor.</a:t>
            </a:r>
            <a:endParaRPr lang="en-US" sz="1050" dirty="0"/>
          </a:p>
        </p:txBody>
      </p:sp>
      <p:sp>
        <p:nvSpPr>
          <p:cNvPr id="45" name="Shape 43"/>
          <p:cNvSpPr/>
          <p:nvPr/>
        </p:nvSpPr>
        <p:spPr>
          <a:xfrm>
            <a:off x="9944100" y="3246120"/>
            <a:ext cx="9144" cy="137160"/>
          </a:xfrm>
          <a:prstGeom prst="line">
            <a:avLst/>
          </a:prstGeom>
          <a:noFill/>
          <a:ln w="19050">
            <a:solidFill>
              <a:srgbClr val="6B6480"/>
            </a:solidFill>
            <a:prstDash val="solid"/>
          </a:ln>
        </p:spPr>
      </p:sp>
      <p:sp>
        <p:nvSpPr>
          <p:cNvPr id="46" name="Shape 44"/>
          <p:cNvSpPr/>
          <p:nvPr/>
        </p:nvSpPr>
        <p:spPr>
          <a:xfrm>
            <a:off x="2263140" y="3383280"/>
            <a:ext cx="7680960" cy="9144"/>
          </a:xfrm>
          <a:prstGeom prst="line">
            <a:avLst/>
          </a:prstGeom>
          <a:noFill/>
          <a:ln w="19050">
            <a:solidFill>
              <a:srgbClr val="6B6480"/>
            </a:solidFill>
            <a:prstDash val="solid"/>
          </a:ln>
        </p:spPr>
      </p:sp>
      <p:sp>
        <p:nvSpPr>
          <p:cNvPr id="47" name="Shape 45"/>
          <p:cNvSpPr/>
          <p:nvPr/>
        </p:nvSpPr>
        <p:spPr>
          <a:xfrm>
            <a:off x="2263140" y="3383280"/>
            <a:ext cx="9144" cy="137160"/>
          </a:xfrm>
          <a:prstGeom prst="line">
            <a:avLst/>
          </a:prstGeom>
          <a:noFill/>
          <a:ln w="22225">
            <a:solidFill>
              <a:srgbClr val="6B6480"/>
            </a:solidFill>
            <a:prstDash val="solid"/>
            <a:tailEnd type="triangle"/>
          </a:ln>
        </p:spPr>
      </p:sp>
      <p:sp>
        <p:nvSpPr>
          <p:cNvPr id="48" name="Text 46"/>
          <p:cNvSpPr txBox="1"/>
          <p:nvPr/>
        </p:nvSpPr>
        <p:spPr>
          <a:xfrm>
            <a:off x="502920" y="5806440"/>
            <a:ext cx="11155680" cy="548640"/>
          </a:xfrm>
          <a:prstGeom prst="rect">
            <a:avLst/>
          </a:prstGeom>
          <a:noFill/>
          <a:ln/>
        </p:spPr>
        <p:txBody>
          <a:bodyPr wrap="square" lIns="0" tIns="0" rIns="0" bIns="0" rtlCol="0" anchor="t"/>
          <a:lstStyle/>
          <a:p>
            <a:pPr indent="0" marL="0">
              <a:buNone/>
            </a:pPr>
            <a:r>
              <a:rPr lang="en-US" sz="1150" dirty="0">
                <a:solidFill>
                  <a:srgbClr val="2B2340"/>
                </a:solidFill>
                <a:latin typeface="Calibri" pitchFamily="34" charset="0"/>
                <a:ea typeface="Calibri" pitchFamily="34" charset="-122"/>
                <a:cs typeface="Calibri" pitchFamily="34" charset="-120"/>
              </a:rPr>
              <a:t>Three purposes, three proofs: the link proves somebody opened mail sent there; the code proves the mailbox is readable now; the ticket is the only thing the password step accepts — so the code can never be skipped by holding the link.</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30</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The new student's journey, as recorded</a:t>
            </a:r>
            <a:endParaRPr lang="en-US" sz="3000" dirty="0"/>
          </a:p>
        </p:txBody>
      </p:sp>
      <p:sp>
        <p:nvSpPr>
          <p:cNvPr id="5" name="Shape 3"/>
          <p:cNvSpPr/>
          <p:nvPr/>
        </p:nvSpPr>
        <p:spPr>
          <a:xfrm>
            <a:off x="502920" y="1170432"/>
            <a:ext cx="1362456" cy="292608"/>
          </a:xfrm>
          <a:prstGeom prst="roundRect">
            <a:avLst>
              <a:gd name="adj" fmla="val 50000"/>
            </a:avLst>
          </a:prstGeom>
          <a:solidFill>
            <a:srgbClr val="4C1D95"/>
          </a:solidFill>
          <a:ln w="12700">
            <a:solidFill>
              <a:srgbClr val="4C1D95"/>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1088136"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APPLICANT</a:t>
            </a:r>
            <a:endParaRPr lang="en-US" sz="900" dirty="0"/>
          </a:p>
        </p:txBody>
      </p:sp>
      <p:sp>
        <p:nvSpPr>
          <p:cNvPr id="8" name="Text 5"/>
          <p:cNvSpPr txBox="1"/>
          <p:nvPr/>
        </p:nvSpPr>
        <p:spPr>
          <a:xfrm>
            <a:off x="2926080" y="1133856"/>
            <a:ext cx="8686800" cy="365760"/>
          </a:xfrm>
          <a:prstGeom prst="rect">
            <a:avLst/>
          </a:prstGeom>
          <a:noFill/>
          <a:ln/>
        </p:spPr>
        <p:txBody>
          <a:bodyPr wrap="square" lIns="0" tIns="0" rIns="0" bIns="0" rtlCol="0" anchor="ctr"/>
          <a:lstStyle/>
          <a:p>
            <a:pPr indent="0" marL="0">
              <a:buNone/>
            </a:pPr>
            <a:r>
              <a:rPr lang="en-US" sz="1250" dirty="0">
                <a:solidFill>
                  <a:srgbClr val="2B2340"/>
                </a:solidFill>
                <a:latin typeface="Calibri" pitchFamily="34" charset="0"/>
                <a:ea typeface="Calibri" pitchFamily="34" charset="-122"/>
                <a:cs typeface="Calibri" pitchFamily="34" charset="-120"/>
              </a:rPr>
              <a:t>Six frames from onboarding.mp4.</a:t>
            </a:r>
            <a:endParaRPr lang="en-US" sz="1250" dirty="0"/>
          </a:p>
        </p:txBody>
      </p:sp>
      <p:sp>
        <p:nvSpPr>
          <p:cNvPr id="9" name="Shape 6"/>
          <p:cNvSpPr/>
          <p:nvPr/>
        </p:nvSpPr>
        <p:spPr>
          <a:xfrm>
            <a:off x="50292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1627632"/>
            <a:ext cx="3474720" cy="1954530"/>
          </a:xfrm>
          <a:prstGeom prst="rect">
            <a:avLst/>
          </a:prstGeom>
        </p:spPr>
      </p:pic>
      <p:sp>
        <p:nvSpPr>
          <p:cNvPr id="11" name="Text 7"/>
          <p:cNvSpPr txBox="1"/>
          <p:nvPr/>
        </p:nvSpPr>
        <p:spPr>
          <a:xfrm>
            <a:off x="54864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1 · The public form</a:t>
            </a:r>
            <a:endParaRPr lang="en-US" sz="1050" dirty="0"/>
          </a:p>
        </p:txBody>
      </p:sp>
      <p:sp>
        <p:nvSpPr>
          <p:cNvPr id="12" name="Shape 8"/>
          <p:cNvSpPr/>
          <p:nvPr/>
        </p:nvSpPr>
        <p:spPr>
          <a:xfrm>
            <a:off x="429768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4343400" y="1627632"/>
            <a:ext cx="3474720" cy="1954530"/>
          </a:xfrm>
          <a:prstGeom prst="rect">
            <a:avLst/>
          </a:prstGeom>
        </p:spPr>
      </p:pic>
      <p:sp>
        <p:nvSpPr>
          <p:cNvPr id="14" name="Text 9"/>
          <p:cNvSpPr txBox="1"/>
          <p:nvPr/>
        </p:nvSpPr>
        <p:spPr>
          <a:xfrm>
            <a:off x="434340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2 · Approved by the office</a:t>
            </a:r>
            <a:endParaRPr lang="en-US" sz="1050" dirty="0"/>
          </a:p>
        </p:txBody>
      </p:sp>
      <p:sp>
        <p:nvSpPr>
          <p:cNvPr id="15" name="Shape 10"/>
          <p:cNvSpPr/>
          <p:nvPr/>
        </p:nvSpPr>
        <p:spPr>
          <a:xfrm>
            <a:off x="8092440" y="158191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6" name="Image 3" descr="preencoded.png">    </p:cNvPr>
          <p:cNvPicPr>
            <a:picLocks noChangeAspect="1"/>
          </p:cNvPicPr>
          <p:nvPr/>
        </p:nvPicPr>
        <p:blipFill>
          <a:blip r:embed="rId4"/>
          <a:stretch>
            <a:fillRect/>
          </a:stretch>
        </p:blipFill>
        <p:spPr>
          <a:xfrm>
            <a:off x="8138160" y="1627632"/>
            <a:ext cx="3474720" cy="1954530"/>
          </a:xfrm>
          <a:prstGeom prst="rect">
            <a:avLst/>
          </a:prstGeom>
        </p:spPr>
      </p:pic>
      <p:sp>
        <p:nvSpPr>
          <p:cNvPr id="17" name="Text 11"/>
          <p:cNvSpPr txBox="1"/>
          <p:nvPr/>
        </p:nvSpPr>
        <p:spPr>
          <a:xfrm>
            <a:off x="8138160" y="365531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3 · The link: type the address</a:t>
            </a:r>
            <a:endParaRPr lang="en-US" sz="1050" dirty="0"/>
          </a:p>
        </p:txBody>
      </p:sp>
      <p:sp>
        <p:nvSpPr>
          <p:cNvPr id="18" name="Shape 12"/>
          <p:cNvSpPr/>
          <p:nvPr/>
        </p:nvSpPr>
        <p:spPr>
          <a:xfrm>
            <a:off x="50292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9" name="Image 4" descr="preencoded.png">    </p:cNvPr>
          <p:cNvPicPr>
            <a:picLocks noChangeAspect="1"/>
          </p:cNvPicPr>
          <p:nvPr/>
        </p:nvPicPr>
        <p:blipFill>
          <a:blip r:embed="rId5"/>
          <a:stretch>
            <a:fillRect/>
          </a:stretch>
        </p:blipFill>
        <p:spPr>
          <a:xfrm>
            <a:off x="548640" y="4039362"/>
            <a:ext cx="3474720" cy="1954530"/>
          </a:xfrm>
          <a:prstGeom prst="rect">
            <a:avLst/>
          </a:prstGeom>
        </p:spPr>
      </p:pic>
      <p:sp>
        <p:nvSpPr>
          <p:cNvPr id="20" name="Text 13"/>
          <p:cNvSpPr txBox="1"/>
          <p:nvPr/>
        </p:nvSpPr>
        <p:spPr>
          <a:xfrm>
            <a:off x="54864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3 · Code confirmed; set the password</a:t>
            </a:r>
            <a:endParaRPr lang="en-US" sz="1050" dirty="0"/>
          </a:p>
        </p:txBody>
      </p:sp>
      <p:sp>
        <p:nvSpPr>
          <p:cNvPr id="21" name="Shape 14"/>
          <p:cNvSpPr/>
          <p:nvPr/>
        </p:nvSpPr>
        <p:spPr>
          <a:xfrm>
            <a:off x="429768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2" name="Image 5" descr="preencoded.png">    </p:cNvPr>
          <p:cNvPicPr>
            <a:picLocks noChangeAspect="1"/>
          </p:cNvPicPr>
          <p:nvPr/>
        </p:nvPicPr>
        <p:blipFill>
          <a:blip r:embed="rId6"/>
          <a:stretch>
            <a:fillRect/>
          </a:stretch>
        </p:blipFill>
        <p:spPr>
          <a:xfrm>
            <a:off x="4343400" y="4039362"/>
            <a:ext cx="3474720" cy="1954530"/>
          </a:xfrm>
          <a:prstGeom prst="rect">
            <a:avLst/>
          </a:prstGeom>
        </p:spPr>
      </p:pic>
      <p:sp>
        <p:nvSpPr>
          <p:cNvPr id="23" name="Text 15"/>
          <p:cNvSpPr txBox="1"/>
          <p:nvPr/>
        </p:nvSpPr>
        <p:spPr>
          <a:xfrm>
            <a:off x="434340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4 · First sign-in</a:t>
            </a:r>
            <a:endParaRPr lang="en-US" sz="1050" dirty="0"/>
          </a:p>
        </p:txBody>
      </p:sp>
      <p:sp>
        <p:nvSpPr>
          <p:cNvPr id="24" name="Shape 16"/>
          <p:cNvSpPr/>
          <p:nvPr/>
        </p:nvSpPr>
        <p:spPr>
          <a:xfrm>
            <a:off x="8092440" y="3993642"/>
            <a:ext cx="3566160" cy="2045970"/>
          </a:xfrm>
          <a:prstGeom prst="roundRect">
            <a:avLst>
              <a:gd name="adj" fmla="val 7151"/>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25" name="Image 6" descr="preencoded.png">    </p:cNvPr>
          <p:cNvPicPr>
            <a:picLocks noChangeAspect="1"/>
          </p:cNvPicPr>
          <p:nvPr/>
        </p:nvPicPr>
        <p:blipFill>
          <a:blip r:embed="rId7"/>
          <a:stretch>
            <a:fillRect/>
          </a:stretch>
        </p:blipFill>
        <p:spPr>
          <a:xfrm>
            <a:off x="8138160" y="4039362"/>
            <a:ext cx="3474720" cy="1954530"/>
          </a:xfrm>
          <a:prstGeom prst="rect">
            <a:avLst/>
          </a:prstGeom>
        </p:spPr>
      </p:pic>
      <p:sp>
        <p:nvSpPr>
          <p:cNvPr id="26" name="Text 17"/>
          <p:cNvSpPr txBox="1"/>
          <p:nvPr/>
        </p:nvSpPr>
        <p:spPr>
          <a:xfrm>
            <a:off x="8138160" y="6067044"/>
            <a:ext cx="347472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6 · On the mentor's Mentee Log</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31</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Alumni portal</a:t>
            </a:r>
            <a:endParaRPr lang="en-US" sz="3000" dirty="0"/>
          </a:p>
        </p:txBody>
      </p:sp>
      <p:sp>
        <p:nvSpPr>
          <p:cNvPr id="5" name="Shape 3"/>
          <p:cNvSpPr/>
          <p:nvPr/>
        </p:nvSpPr>
        <p:spPr>
          <a:xfrm>
            <a:off x="502920" y="1170432"/>
            <a:ext cx="1060704" cy="292608"/>
          </a:xfrm>
          <a:prstGeom prst="roundRect">
            <a:avLst>
              <a:gd name="adj" fmla="val 50000"/>
            </a:avLst>
          </a:prstGeom>
          <a:solidFill>
            <a:srgbClr val="B45309"/>
          </a:solidFill>
          <a:ln w="12700">
            <a:solidFill>
              <a:srgbClr val="B45309"/>
            </a:solidFill>
            <a:prstDash val="solid"/>
          </a:ln>
        </p:spPr>
      </p:sp>
      <p:pic>
        <p:nvPicPr>
          <p:cNvPr id="6" name="Image 0" descr="preencoded.png">    </p:cNvPr>
          <p:cNvPicPr>
            <a:picLocks noChangeAspect="1"/>
          </p:cNvPicPr>
          <p:nvPr/>
        </p:nvPicPr>
        <p:blipFill>
          <a:blip r:embed="rId1"/>
          <a:stretch>
            <a:fillRect/>
          </a:stretch>
        </p:blipFill>
        <p:spPr>
          <a:xfrm>
            <a:off x="585216" y="1225296"/>
            <a:ext cx="182880" cy="182880"/>
          </a:xfrm>
          <a:prstGeom prst="rect">
            <a:avLst/>
          </a:prstGeom>
        </p:spPr>
      </p:pic>
      <p:sp>
        <p:nvSpPr>
          <p:cNvPr id="7" name="Text 4"/>
          <p:cNvSpPr txBox="1"/>
          <p:nvPr/>
        </p:nvSpPr>
        <p:spPr>
          <a:xfrm>
            <a:off x="804672" y="1170432"/>
            <a:ext cx="786384" cy="29260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ALUMNI</a:t>
            </a:r>
            <a:endParaRPr lang="en-US" sz="900" dirty="0"/>
          </a:p>
        </p:txBody>
      </p:sp>
      <p:sp>
        <p:nvSpPr>
          <p:cNvPr id="8" name="Text 5"/>
          <p:cNvSpPr txBox="1"/>
          <p:nvPr/>
        </p:nvSpPr>
        <p:spPr>
          <a:xfrm>
            <a:off x="502920" y="1645920"/>
            <a:ext cx="11155680" cy="91440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A real role with no student record and no staff scope. On first sign-in there is no profile row, so the create form appears: current company, designation, batch year and a resume. The jobs sheet is the same postings the office published — without the match % and eligibility verdict, which need a student's marks.</a:t>
            </a:r>
            <a:endParaRPr lang="en-US" sz="1300" dirty="0"/>
          </a:p>
        </p:txBody>
      </p:sp>
      <p:sp>
        <p:nvSpPr>
          <p:cNvPr id="9" name="Shape 6"/>
          <p:cNvSpPr/>
          <p:nvPr/>
        </p:nvSpPr>
        <p:spPr>
          <a:xfrm>
            <a:off x="50292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0" name="Image 1" descr="preencoded.png">    </p:cNvPr>
          <p:cNvPicPr>
            <a:picLocks noChangeAspect="1"/>
          </p:cNvPicPr>
          <p:nvPr/>
        </p:nvPicPr>
        <p:blipFill>
          <a:blip r:embed="rId2"/>
          <a:stretch>
            <a:fillRect/>
          </a:stretch>
        </p:blipFill>
        <p:spPr>
          <a:xfrm>
            <a:off x="548640" y="2697480"/>
            <a:ext cx="5440680" cy="3060383"/>
          </a:xfrm>
          <a:prstGeom prst="rect">
            <a:avLst/>
          </a:prstGeom>
        </p:spPr>
      </p:pic>
      <p:sp>
        <p:nvSpPr>
          <p:cNvPr id="11" name="Text 7"/>
          <p:cNvSpPr txBox="1"/>
          <p:nvPr/>
        </p:nvSpPr>
        <p:spPr>
          <a:xfrm>
            <a:off x="54864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My Profile — created on first sign-in</a:t>
            </a:r>
            <a:endParaRPr lang="en-US" sz="1050" dirty="0"/>
          </a:p>
        </p:txBody>
      </p:sp>
      <p:sp>
        <p:nvSpPr>
          <p:cNvPr id="12" name="Shape 8"/>
          <p:cNvSpPr/>
          <p:nvPr/>
        </p:nvSpPr>
        <p:spPr>
          <a:xfrm>
            <a:off x="6172200" y="2651760"/>
            <a:ext cx="5532120" cy="3151823"/>
          </a:xfrm>
          <a:prstGeom prst="roundRect">
            <a:avLst>
              <a:gd name="adj" fmla="val 4642"/>
            </a:avLst>
          </a:prstGeom>
          <a:solidFill>
            <a:srgbClr val="FFFFFF"/>
          </a:solidFill>
          <a:ln w="9525">
            <a:solidFill>
              <a:srgbClr val="D9D0EA"/>
            </a:solidFill>
            <a:prstDash val="solid"/>
          </a:ln>
          <a:effectLst>
            <a:outerShdw sx="100000" sy="100000" kx="0" ky="0" algn="bl" rotWithShape="0" blurRad="101600" dist="38100" dir="3600000">
              <a:srgbClr val="1E1338">
                <a:alpha val="22000"/>
              </a:srgbClr>
            </a:outerShdw>
          </a:effectLst>
        </p:spPr>
      </p:sp>
      <p:pic>
        <p:nvPicPr>
          <p:cNvPr id="13" name="Image 2" descr="preencoded.png">    </p:cNvPr>
          <p:cNvPicPr>
            <a:picLocks noChangeAspect="1"/>
          </p:cNvPicPr>
          <p:nvPr/>
        </p:nvPicPr>
        <p:blipFill>
          <a:blip r:embed="rId3"/>
          <a:stretch>
            <a:fillRect/>
          </a:stretch>
        </p:blipFill>
        <p:spPr>
          <a:xfrm>
            <a:off x="6217920" y="2697480"/>
            <a:ext cx="5440680" cy="3060383"/>
          </a:xfrm>
          <a:prstGeom prst="rect">
            <a:avLst/>
          </a:prstGeom>
        </p:spPr>
      </p:pic>
      <p:sp>
        <p:nvSpPr>
          <p:cNvPr id="14" name="Text 9"/>
          <p:cNvSpPr txBox="1"/>
          <p:nvPr/>
        </p:nvSpPr>
        <p:spPr>
          <a:xfrm>
            <a:off x="6217920" y="5831015"/>
            <a:ext cx="5440680" cy="292608"/>
          </a:xfrm>
          <a:prstGeom prst="rect">
            <a:avLst/>
          </a:prstGeom>
          <a:noFill/>
          <a:ln/>
        </p:spPr>
        <p:txBody>
          <a:bodyPr wrap="square" lIns="0" tIns="0" rIns="0" bIns="0" rtlCol="0" anchor="ctr"/>
          <a:lstStyle/>
          <a:p>
            <a:pPr indent="0" marL="0">
              <a:buNone/>
            </a:pPr>
            <a:r>
              <a:rPr lang="en-US" sz="1050" dirty="0">
                <a:solidFill>
                  <a:srgbClr val="6B6480"/>
                </a:solidFill>
                <a:latin typeface="Calibri" pitchFamily="34" charset="0"/>
                <a:ea typeface="Calibri" pitchFamily="34" charset="-122"/>
                <a:cs typeface="Calibri" pitchFamily="34" charset="-120"/>
              </a:rPr>
              <a:t>Jobs Sheet — no match %, by design</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6B6480"/>
                </a:solidFill>
                <a:latin typeface="Calibri" pitchFamily="34" charset="0"/>
                <a:ea typeface="Calibri" pitchFamily="34" charset="-122"/>
                <a:cs typeface="Calibri" pitchFamily="34" charset="-120"/>
              </a:rPr>
              <a:t>REEP · live portal walkthrough</a:t>
            </a:r>
            <a:endParaRPr lang="en-US" sz="900" dirty="0"/>
          </a:p>
        </p:txBody>
      </p:sp>
      <p:sp>
        <p:nvSpPr>
          <p:cNvPr id="3" name="Text 1"/>
          <p:cNvSpPr txBox="1"/>
          <p:nvPr/>
        </p:nvSpPr>
        <p:spPr>
          <a:xfrm>
            <a:off x="11231575" y="6473952"/>
            <a:ext cx="457200" cy="274320"/>
          </a:xfrm>
          <a:prstGeom prst="rect">
            <a:avLst/>
          </a:prstGeom>
          <a:noFill/>
          <a:ln/>
        </p:spPr>
        <p:txBody>
          <a:bodyPr wrap="square" lIns="0" tIns="0" rIns="0" bIns="0" rtlCol="0" anchor="ctr"/>
          <a:lstStyle/>
          <a:p>
            <a:pPr algn="r" indent="0" marL="0">
              <a:buNone/>
            </a:pPr>
            <a:r>
              <a:rPr lang="en-US" sz="900" dirty="0">
                <a:solidFill>
                  <a:srgbClr val="6B6480"/>
                </a:solidFill>
                <a:latin typeface="Calibri" pitchFamily="34" charset="0"/>
                <a:ea typeface="Calibri" pitchFamily="34" charset="-122"/>
                <a:cs typeface="Calibri" pitchFamily="34" charset="-120"/>
              </a:rPr>
              <a:t>32</a:t>
            </a:r>
            <a:endParaRPr lang="en-US" sz="900" dirty="0"/>
          </a:p>
        </p:txBody>
      </p:sp>
      <p:sp>
        <p:nvSpPr>
          <p:cNvPr id="4" name="Text 2"/>
          <p:cNvSpPr txBox="1"/>
          <p:nvPr/>
        </p:nvSpPr>
        <p:spPr>
          <a:xfrm>
            <a:off x="502920" y="411480"/>
            <a:ext cx="11155680" cy="640080"/>
          </a:xfrm>
          <a:prstGeom prst="rect">
            <a:avLst/>
          </a:prstGeom>
          <a:noFill/>
          <a:ln/>
        </p:spPr>
        <p:txBody>
          <a:bodyPr wrap="square" lIns="0" tIns="0" rIns="0" bIns="0" rtlCol="0" anchor="ctr"/>
          <a:lstStyle/>
          <a:p>
            <a:pPr indent="0" marL="0">
              <a:buNone/>
            </a:pPr>
            <a:r>
              <a:rPr lang="en-US" sz="3000" b="1" dirty="0">
                <a:solidFill>
                  <a:srgbClr val="1E1338"/>
                </a:solidFill>
                <a:latin typeface="Calibri" pitchFamily="34" charset="0"/>
                <a:ea typeface="Calibri" pitchFamily="34" charset="-122"/>
                <a:cs typeface="Calibri" pitchFamily="34" charset="-120"/>
              </a:rPr>
              <a:t>Reproducing this walkthrough</a:t>
            </a:r>
            <a:endParaRPr lang="en-US" sz="3000" dirty="0"/>
          </a:p>
        </p:txBody>
      </p:sp>
      <p:sp>
        <p:nvSpPr>
          <p:cNvPr id="5" name="Text 3"/>
          <p:cNvSpPr txBox="1"/>
          <p:nvPr/>
        </p:nvSpPr>
        <p:spPr>
          <a:xfrm>
            <a:off x="502920" y="1280160"/>
            <a:ext cx="6675120" cy="4389120"/>
          </a:xfrm>
          <a:prstGeom prst="rect">
            <a:avLst/>
          </a:prstGeom>
          <a:noFill/>
          <a:ln/>
        </p:spPr>
        <p:txBody>
          <a:bodyPr wrap="square" lIns="0" tIns="0" rIns="0" bIns="0" rtlCol="0" anchor="t"/>
          <a:lstStyle/>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Seeded logins (dev database only): student@bgscet.ac.in / student123 · mentor@bgscet.ac.in / mentor123 · admin@bgscet.ac.in / admin123 · alumni@bgscet.ac.in / alumni123</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Stack: docker compose up -d (Postgres 17 + pgvector) · apps/api-py: alembic upgrade head, python -m app.seed, uvicorn on 3300 · apps/web: npx ng serve on 4200</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Recorder: tools/demo/record-walkthrough.mjs drives the portal in Chromium and records it; tools/demo/render.sh makes the MP4s; tools/demo/build-deck.cjs rebuilds this deck from the screenshots</a:t>
            </a:r>
            <a:endParaRPr lang="en-US" sz="1300" dirty="0"/>
          </a:p>
          <a:p>
            <a:pPr marL="152400" indent="-152400">
              <a:spcAft>
                <a:spcPts val="700"/>
              </a:spcAft>
              <a:buSzPct val="100000"/>
              <a:buChar char="•"/>
            </a:pPr>
            <a:r>
              <a:rPr lang="en-US" sz="1300" dirty="0">
                <a:solidFill>
                  <a:srgbClr val="2B2340"/>
                </a:solidFill>
                <a:latin typeface="Calibri" pitchFamily="34" charset="0"/>
                <a:ea typeface="Calibri" pitchFamily="34" charset="-122"/>
                <a:cs typeface="Calibri" pitchFamily="34" charset="-120"/>
              </a:rPr>
              <a:t>Everything the videos show was written to a throwaway seeded database; run tools/demo/reset-dev-db.sh to start again from the same state</a:t>
            </a:r>
            <a:endParaRPr lang="en-US" sz="1300" dirty="0"/>
          </a:p>
        </p:txBody>
      </p:sp>
      <p:sp>
        <p:nvSpPr>
          <p:cNvPr id="6" name="Shape 4"/>
          <p:cNvSpPr/>
          <p:nvPr/>
        </p:nvSpPr>
        <p:spPr>
          <a:xfrm>
            <a:off x="7589520" y="1280160"/>
            <a:ext cx="4114800" cy="3566160"/>
          </a:xfrm>
          <a:prstGeom prst="roundRect">
            <a:avLst>
              <a:gd name="adj" fmla="val 4103"/>
            </a:avLst>
          </a:prstGeom>
          <a:solidFill>
            <a:srgbClr val="EFE9F7"/>
          </a:solidFill>
          <a:ln w="12700">
            <a:solidFill>
              <a:srgbClr val="EFE9F7"/>
            </a:solidFill>
            <a:prstDash val="solid"/>
          </a:ln>
        </p:spPr>
      </p:sp>
      <p:pic>
        <p:nvPicPr>
          <p:cNvPr id="7" name="Image 0" descr="preencoded.png">    </p:cNvPr>
          <p:cNvPicPr>
            <a:picLocks noChangeAspect="1"/>
          </p:cNvPicPr>
          <p:nvPr/>
        </p:nvPicPr>
        <p:blipFill>
          <a:blip r:embed="rId1"/>
          <a:stretch>
            <a:fillRect/>
          </a:stretch>
        </p:blipFill>
        <p:spPr>
          <a:xfrm>
            <a:off x="7818120" y="1508760"/>
            <a:ext cx="457200" cy="457200"/>
          </a:xfrm>
          <a:prstGeom prst="rect">
            <a:avLst/>
          </a:prstGeom>
        </p:spPr>
      </p:pic>
      <p:sp>
        <p:nvSpPr>
          <p:cNvPr id="8" name="Text 5"/>
          <p:cNvSpPr txBox="1"/>
          <p:nvPr/>
        </p:nvSpPr>
        <p:spPr>
          <a:xfrm>
            <a:off x="8412480" y="1463040"/>
            <a:ext cx="3154680" cy="3840480"/>
          </a:xfrm>
          <a:prstGeom prst="rect">
            <a:avLst/>
          </a:prstGeom>
          <a:noFill/>
          <a:ln/>
        </p:spPr>
        <p:txBody>
          <a:bodyPr wrap="square" lIns="0" tIns="0" rIns="0" bIns="0" rtlCol="0" anchor="t"/>
          <a:lstStyle/>
          <a:p>
            <a:pPr indent="0" marL="0">
              <a:buNone/>
            </a:pPr>
            <a:r>
              <a:rPr lang="en-US" sz="1500" b="1" dirty="0">
                <a:solidFill>
                  <a:srgbClr val="1E1338"/>
                </a:solidFill>
                <a:latin typeface="Calibri" pitchFamily="34" charset="0"/>
                <a:ea typeface="Calibri" pitchFamily="34" charset="-122"/>
                <a:cs typeface="Calibri" pitchFamily="34" charset="-120"/>
              </a:rPr>
              <a:t>Where the files are</a:t>
            </a:r>
            <a:endParaRPr lang="en-US" sz="1150" dirty="0"/>
          </a:p>
          <a:p>
            <a:pPr indent="0" marL="0">
              <a:buNone/>
            </a:pPr>
            <a:r>
              <a:rPr lang="en-US" sz="1150" b="1" dirty="0">
                <a:solidFill>
                  <a:srgbClr val="1E1338"/>
                </a:solidFill>
                <a:latin typeface="Calibri" pitchFamily="34" charset="0"/>
                <a:ea typeface="Calibri" pitchFamily="34" charset="-122"/>
                <a:cs typeface="Calibri" pitchFamily="34" charset="-120"/>
              </a:rPr>
              <a:t>docs/presentation/</a:t>
            </a:r>
            <a:endParaRPr lang="en-US" sz="1150" dirty="0"/>
          </a:p>
          <a:p>
            <a:pPr indent="0" marL="0">
              <a:buNone/>
            </a:pPr>
            <a:r>
              <a:rPr lang="en-US" sz="1150" dirty="0">
                <a:solidFill>
                  <a:srgbClr val="1E1338"/>
                </a:solidFill>
                <a:latin typeface="Calibri" pitchFamily="34" charset="0"/>
                <a:ea typeface="Calibri" pitchFamily="34" charset="-122"/>
                <a:cs typeface="Calibri" pitchFamily="34" charset="-120"/>
              </a:rPr>
              <a:t>  REEP-portal-walkthrough.pptx — this deck</a:t>
            </a:r>
            <a:endParaRPr lang="en-US" sz="1150" dirty="0"/>
          </a:p>
          <a:p>
            <a:pPr indent="0" marL="0">
              <a:buNone/>
            </a:pPr>
            <a:r>
              <a:rPr lang="en-US" sz="1150" dirty="0">
                <a:solidFill>
                  <a:srgbClr val="1E1338"/>
                </a:solidFill>
                <a:latin typeface="Calibri" pitchFamily="34" charset="0"/>
                <a:ea typeface="Calibri" pitchFamily="34" charset="-122"/>
                <a:cs typeface="Calibri" pitchFamily="34" charset="-120"/>
              </a:rPr>
              <a:t>  video/*.mp4 — the six recordings and the combined file</a:t>
            </a:r>
            <a:endParaRPr lang="en-US" sz="1150" dirty="0"/>
          </a:p>
          <a:p>
            <a:pPr indent="0" marL="0">
              <a:buNone/>
            </a:pPr>
            <a:r>
              <a:rPr lang="en-US" sz="1150" dirty="0">
                <a:solidFill>
                  <a:srgbClr val="1E1338"/>
                </a:solidFill>
                <a:latin typeface="Calibri" pitchFamily="34" charset="0"/>
                <a:ea typeface="Calibri" pitchFamily="34" charset="-122"/>
                <a:cs typeface="Calibri" pitchFamily="34" charset="-120"/>
              </a:rPr>
              <a:t>  screens/*.png — every screenshot the deck uses</a:t>
            </a:r>
            <a:endParaRPr lang="en-US" sz="1150" dirty="0"/>
          </a:p>
          <a:p>
            <a:pPr indent="0" marL="0">
              <a:buNone/>
            </a:pPr>
            <a:r>
              <a:rPr lang="en-US" sz="1150" dirty="0">
                <a:solidFill>
                  <a:srgbClr val="1E1338"/>
                </a:solidFill>
                <a:latin typeface="Calibri" pitchFamily="34" charset="0"/>
                <a:ea typeface="Calibri" pitchFamily="34" charset="-122"/>
                <a:cs typeface="Calibri" pitchFamily="34" charset="-120"/>
              </a:rPr>
              <a:t>  README.md — what each video covers, minute by minute</a:t>
            </a:r>
            <a:endParaRPr lang="en-US" sz="1150" dirty="0"/>
          </a:p>
          <a:p>
            <a:pPr indent="0" marL="0">
              <a:buNone/>
            </a:pPr>
            <a:r>
              <a:rPr lang="en-US" sz="1150" dirty="0">
                <a:solidFill>
                  <a:srgbClr val="1E1338"/>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1E1338"/>
                </a:solidFill>
                <a:latin typeface="Calibri" pitchFamily="34" charset="0"/>
                <a:ea typeface="Calibri" pitchFamily="34" charset="-122"/>
                <a:cs typeface="Calibri" pitchFamily="34" charset="-120"/>
              </a:rPr>
              <a:t>tools/demo/</a:t>
            </a:r>
            <a:endParaRPr lang="en-US" sz="1150" dirty="0"/>
          </a:p>
          <a:p>
            <a:pPr indent="0" marL="0">
              <a:buNone/>
            </a:pPr>
            <a:r>
              <a:rPr lang="en-US" sz="1150" dirty="0">
                <a:solidFill>
                  <a:srgbClr val="1E1338"/>
                </a:solidFill>
                <a:latin typeface="Calibri" pitchFamily="34" charset="0"/>
                <a:ea typeface="Calibri" pitchFamily="34" charset="-122"/>
                <a:cs typeface="Calibri" pitchFamily="34" charset="-120"/>
              </a:rPr>
              <a:t>  the recorder, the renderer, the deck builder and the reset script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REEP — live portal walkthrough</dc:title>
  <dc:subject>PptxGenJS Presentation</dc:subject>
  <dc:creator>REEP</dc:creator>
  <cp:lastModifiedBy>REEP</cp:lastModifiedBy>
  <cp:revision>1</cp:revision>
  <dcterms:created xsi:type="dcterms:W3CDTF">2026-09-17T17:42:18Z</dcterms:created>
  <dcterms:modified xsi:type="dcterms:W3CDTF">2026-09-17T17:42:18Z</dcterms:modified>
</cp:coreProperties>
</file>